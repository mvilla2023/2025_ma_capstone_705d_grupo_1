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-46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795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E77DA-92B2-1487-0640-08889025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41953-016C-14FD-08DF-A3B48B7C6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200BF-3C77-2B1F-0D04-2B3CD8902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3384A-EE51-CEA6-9305-0107300E9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5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99B26-4CCF-6D7E-9332-66557AFAF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7B4FA-2A99-4234-6384-B7424BE37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CCF1C-BDEB-81CA-8519-0691C007E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22520-0BB5-CA4D-77CC-CC6BF23DA2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575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1FCB8-FA71-8576-78CB-B9FEB267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E155B-E49E-08C7-3828-A3A45D5CD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AE822-D193-B37A-F53C-C2AAF4F22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670DB-E8D2-7816-C2C1-1D1E4A1A3D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60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bin"/><Relationship Id="rId4" Type="http://schemas.openxmlformats.org/officeDocument/2006/relationships/image" Target="../media/image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bin"/><Relationship Id="rId4" Type="http://schemas.openxmlformats.org/officeDocument/2006/relationships/image" Target="../media/image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bin"/><Relationship Id="rId4" Type="http://schemas.openxmlformats.org/officeDocument/2006/relationships/image" Target="../media/image1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bin"/><Relationship Id="rId5" Type="http://schemas.openxmlformats.org/officeDocument/2006/relationships/image" Target="../media/image19.bin"/><Relationship Id="rId4" Type="http://schemas.openxmlformats.org/officeDocument/2006/relationships/image" Target="../media/image1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bin"/><Relationship Id="rId3" Type="http://schemas.openxmlformats.org/officeDocument/2006/relationships/image" Target="../media/image3.bin"/><Relationship Id="rId7" Type="http://schemas.openxmlformats.org/officeDocument/2006/relationships/image" Target="../media/image2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bin"/><Relationship Id="rId5" Type="http://schemas.openxmlformats.org/officeDocument/2006/relationships/image" Target="../media/image22.bin"/><Relationship Id="rId4" Type="http://schemas.openxmlformats.org/officeDocument/2006/relationships/image" Target="../media/image2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795425"/>
            <a:ext cx="82867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de Gestión Integral para Barberías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28625" y="3035536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CF0F1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Transformando operaciones mediante tecnología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5" y="1802904"/>
            <a:ext cx="1428750" cy="142875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2520E03-52F2-DD50-22B8-DA5BF2DB01C5}"/>
              </a:ext>
            </a:extLst>
          </p:cNvPr>
          <p:cNvSpPr txBox="1"/>
          <p:nvPr/>
        </p:nvSpPr>
        <p:spPr>
          <a:xfrm>
            <a:off x="428625" y="3599234"/>
            <a:ext cx="5797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Felipe González</a:t>
            </a:r>
          </a:p>
          <a:p>
            <a:r>
              <a:rPr lang="es-C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Martín Salas</a:t>
            </a:r>
          </a:p>
          <a:p>
            <a:r>
              <a:rPr lang="es-C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Dylan Quiñones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41127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Descripción del Proyecto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1159073"/>
            <a:ext cx="19995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Este proyecto busca desarrollar un </a:t>
            </a:r>
            <a:endParaRPr lang="en-US" sz="837" dirty="0"/>
          </a:p>
        </p:txBody>
      </p:sp>
      <p:sp>
        <p:nvSpPr>
          <p:cNvPr id="5" name="Text 2"/>
          <p:cNvSpPr/>
          <p:nvPr/>
        </p:nvSpPr>
        <p:spPr>
          <a:xfrm>
            <a:off x="2428205" y="1159073"/>
            <a:ext cx="25115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de Gestión Integral para Barberías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4939736" y="1159073"/>
            <a:ext cx="37756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 el objetivo de optimizar las operaciones diarias y potenciar el 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428625" y="1364791"/>
            <a:ext cx="36641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crecimiento de pequeñas y medianas empresas (pymes) en el sector.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428625" y="1688381"/>
            <a:ext cx="8286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través de la implementación de herramientas tecnológicas como aplicaciones móviles, sitios web y soluciones de inteligencia de negocios, se busca resolver las dificultades actuales en la organización y aprovechamiento de la información.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428625" y="2267694"/>
            <a:ext cx="12672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 sistema permitirá un 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1695915" y="2267694"/>
            <a:ext cx="15225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eficiente de ventas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3218483" y="2267694"/>
            <a:ext cx="604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3278925" y="2267694"/>
            <a:ext cx="16528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de clientes frecuentes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4931811" y="2267694"/>
            <a:ext cx="604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4992253" y="2267694"/>
            <a:ext cx="13511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monitoreo de ganancias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6343427" y="2267694"/>
            <a:ext cx="1178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 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6461299" y="2267694"/>
            <a:ext cx="15579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personalización de servicios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8019250" y="2267694"/>
            <a:ext cx="6961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impulsando 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428625" y="2473412"/>
            <a:ext cx="42081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así la economía local mediante el emprendimiento y la innovación tecnológica.</a:t>
            </a:r>
            <a:endParaRPr lang="en-US" sz="837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4CFABB4-C216-8732-7DCF-F4FEF0C4C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429" y="2978570"/>
            <a:ext cx="4913567" cy="18151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41127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Contexto y Problemática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59966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2938" y="1134070"/>
            <a:ext cx="12561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Desafíos Actuales </a:t>
            </a:r>
            <a:endParaRPr lang="en-US" sz="1046" dirty="0"/>
          </a:p>
        </p:txBody>
      </p:sp>
      <p:sp>
        <p:nvSpPr>
          <p:cNvPr id="6" name="Text 2"/>
          <p:cNvSpPr/>
          <p:nvPr/>
        </p:nvSpPr>
        <p:spPr>
          <a:xfrm>
            <a:off x="428625" y="1471613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Falta de registro adecuado de ventas y control de ingresos</a:t>
            </a:r>
            <a:endParaRPr lang="en-US" sz="732" dirty="0"/>
          </a:p>
        </p:txBody>
      </p:sp>
      <p:sp>
        <p:nvSpPr>
          <p:cNvPr id="7" name="Text 3"/>
          <p:cNvSpPr/>
          <p:nvPr/>
        </p:nvSpPr>
        <p:spPr>
          <a:xfrm>
            <a:off x="428625" y="1738778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Dificultad para controlar y fidelizar clientes frecuentes</a:t>
            </a:r>
            <a:endParaRPr lang="en-US" sz="732" dirty="0"/>
          </a:p>
        </p:txBody>
      </p:sp>
      <p:sp>
        <p:nvSpPr>
          <p:cNvPr id="8" name="Text 4"/>
          <p:cNvSpPr/>
          <p:nvPr/>
        </p:nvSpPr>
        <p:spPr>
          <a:xfrm>
            <a:off x="428625" y="2005943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Imposibilidad de monitorear ganancias en tiempo real</a:t>
            </a:r>
            <a:endParaRPr lang="en-US" sz="732" dirty="0"/>
          </a:p>
        </p:txBody>
      </p:sp>
      <p:sp>
        <p:nvSpPr>
          <p:cNvPr id="9" name="Text 5"/>
          <p:cNvSpPr/>
          <p:nvPr/>
        </p:nvSpPr>
        <p:spPr>
          <a:xfrm>
            <a:off x="428625" y="2273108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Limitaciones para personalizar servicios según preferencias del cliente</a:t>
            </a:r>
            <a:endParaRPr lang="en-US" sz="732" dirty="0"/>
          </a:p>
        </p:txBody>
      </p:sp>
      <p:sp>
        <p:nvSpPr>
          <p:cNvPr id="10" name="Text 6"/>
          <p:cNvSpPr/>
          <p:nvPr/>
        </p:nvSpPr>
        <p:spPr>
          <a:xfrm>
            <a:off x="428625" y="2540273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Procesos manuales que consumen tiempo y recursos</a:t>
            </a:r>
            <a:endParaRPr lang="en-US" sz="732" dirty="0"/>
          </a:p>
        </p:txBody>
      </p:sp>
      <p:sp>
        <p:nvSpPr>
          <p:cNvPr id="11" name="Text 7"/>
          <p:cNvSpPr/>
          <p:nvPr/>
        </p:nvSpPr>
        <p:spPr>
          <a:xfrm>
            <a:off x="428625" y="2807438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Falta de información para tomar decisiones estratégicas</a:t>
            </a:r>
            <a:endParaRPr lang="en-US" sz="732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159966"/>
            <a:ext cx="107156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93469" y="1134070"/>
            <a:ext cx="17062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Soluciones Tecnológicas </a:t>
            </a:r>
            <a:endParaRPr lang="en-US" sz="1046" dirty="0"/>
          </a:p>
        </p:txBody>
      </p:sp>
      <p:sp>
        <p:nvSpPr>
          <p:cNvPr id="14" name="Text 9"/>
          <p:cNvSpPr/>
          <p:nvPr/>
        </p:nvSpPr>
        <p:spPr>
          <a:xfrm>
            <a:off x="4714875" y="1471613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Aplicaciones móviles para facilitar la interacción con clientes</a:t>
            </a:r>
            <a:endParaRPr lang="en-US" sz="732" dirty="0"/>
          </a:p>
        </p:txBody>
      </p:sp>
      <p:sp>
        <p:nvSpPr>
          <p:cNvPr id="15" name="Text 10"/>
          <p:cNvSpPr/>
          <p:nvPr/>
        </p:nvSpPr>
        <p:spPr>
          <a:xfrm>
            <a:off x="4714875" y="1738778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Sitios web como plataforma de visibilidad y acceso a servicios</a:t>
            </a:r>
            <a:endParaRPr lang="en-US" sz="732" dirty="0"/>
          </a:p>
        </p:txBody>
      </p:sp>
      <p:sp>
        <p:nvSpPr>
          <p:cNvPr id="16" name="Text 11"/>
          <p:cNvSpPr/>
          <p:nvPr/>
        </p:nvSpPr>
        <p:spPr>
          <a:xfrm>
            <a:off x="4714875" y="2005943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de gestión integral de operaciones</a:t>
            </a:r>
            <a:endParaRPr lang="en-US" sz="732" dirty="0"/>
          </a:p>
        </p:txBody>
      </p:sp>
      <p:sp>
        <p:nvSpPr>
          <p:cNvPr id="17" name="Text 12"/>
          <p:cNvSpPr/>
          <p:nvPr/>
        </p:nvSpPr>
        <p:spPr>
          <a:xfrm>
            <a:off x="4714875" y="2273108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Soluciones de inteligencia de negocios para análisis de datos</a:t>
            </a:r>
            <a:endParaRPr lang="en-US" sz="732" dirty="0"/>
          </a:p>
        </p:txBody>
      </p:sp>
      <p:sp>
        <p:nvSpPr>
          <p:cNvPr id="18" name="Text 13"/>
          <p:cNvSpPr/>
          <p:nvPr/>
        </p:nvSpPr>
        <p:spPr>
          <a:xfrm>
            <a:off x="4714875" y="2540273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Automatización de procesos clave</a:t>
            </a:r>
            <a:endParaRPr lang="en-US" sz="732" dirty="0"/>
          </a:p>
        </p:txBody>
      </p:sp>
      <p:sp>
        <p:nvSpPr>
          <p:cNvPr id="19" name="Text 14"/>
          <p:cNvSpPr/>
          <p:nvPr/>
        </p:nvSpPr>
        <p:spPr>
          <a:xfrm>
            <a:off x="4714875" y="2807438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Herramientas para fidelización y personalización de clientes</a:t>
            </a:r>
            <a:endParaRPr lang="en-US" sz="732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E30C231-4A57-EFD8-9624-D77EED643E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9365" y="3213117"/>
            <a:ext cx="2209696" cy="15926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56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41127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de Negocio (BPMN)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350" y="869752"/>
            <a:ext cx="4479299" cy="41433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41127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Alcances del Proyecto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50144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2938" y="1134070"/>
            <a:ext cx="15122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 que hace el proyecto </a:t>
            </a:r>
            <a:endParaRPr lang="en-US" sz="942" dirty="0"/>
          </a:p>
        </p:txBody>
      </p:sp>
      <p:sp>
        <p:nvSpPr>
          <p:cNvPr id="6" name="Text 2"/>
          <p:cNvSpPr/>
          <p:nvPr/>
        </p:nvSpPr>
        <p:spPr>
          <a:xfrm>
            <a:off x="428625" y="1537692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Servicios Principales</a:t>
            </a:r>
            <a:endParaRPr lang="en-US" sz="680" dirty="0"/>
          </a:p>
        </p:txBody>
      </p:sp>
      <p:sp>
        <p:nvSpPr>
          <p:cNvPr id="7" name="Text 3"/>
          <p:cNvSpPr/>
          <p:nvPr/>
        </p:nvSpPr>
        <p:spPr>
          <a:xfrm>
            <a:off x="428625" y="1721644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Gestión de citas para cortes de cabello masculino</a:t>
            </a:r>
            <a:endParaRPr lang="en-US" sz="680" dirty="0"/>
          </a:p>
        </p:txBody>
      </p:sp>
      <p:sp>
        <p:nvSpPr>
          <p:cNvPr id="8" name="Text 4"/>
          <p:cNvSpPr/>
          <p:nvPr/>
        </p:nvSpPr>
        <p:spPr>
          <a:xfrm>
            <a:off x="428625" y="1918097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Afeitado y perfilado de barba</a:t>
            </a:r>
            <a:endParaRPr lang="en-US" sz="680" dirty="0"/>
          </a:p>
        </p:txBody>
      </p:sp>
      <p:sp>
        <p:nvSpPr>
          <p:cNvPr id="9" name="Text 5"/>
          <p:cNvSpPr/>
          <p:nvPr/>
        </p:nvSpPr>
        <p:spPr>
          <a:xfrm>
            <a:off x="428625" y="2114550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Arreglo de bigote y patillas</a:t>
            </a:r>
            <a:endParaRPr lang="en-US" sz="680" dirty="0"/>
          </a:p>
        </p:txBody>
      </p:sp>
      <p:sp>
        <p:nvSpPr>
          <p:cNvPr id="10" name="Text 6"/>
          <p:cNvSpPr/>
          <p:nvPr/>
        </p:nvSpPr>
        <p:spPr>
          <a:xfrm>
            <a:off x="428625" y="2311003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Lavado y tratamiento capilar</a:t>
            </a:r>
            <a:endParaRPr lang="en-US" sz="680" dirty="0"/>
          </a:p>
        </p:txBody>
      </p:sp>
      <p:sp>
        <p:nvSpPr>
          <p:cNvPr id="11" name="Text 7"/>
          <p:cNvSpPr/>
          <p:nvPr/>
        </p:nvSpPr>
        <p:spPr>
          <a:xfrm>
            <a:off x="428625" y="2507456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Asesoría en estilo personal</a:t>
            </a:r>
            <a:endParaRPr lang="en-US" sz="680" dirty="0"/>
          </a:p>
        </p:txBody>
      </p:sp>
      <p:sp>
        <p:nvSpPr>
          <p:cNvPr id="12" name="Text 8"/>
          <p:cNvSpPr/>
          <p:nvPr/>
        </p:nvSpPr>
        <p:spPr>
          <a:xfrm>
            <a:off x="428625" y="2789634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Servicios Complementarios</a:t>
            </a:r>
            <a:endParaRPr lang="en-US" sz="680" dirty="0"/>
          </a:p>
        </p:txBody>
      </p:sp>
      <p:sp>
        <p:nvSpPr>
          <p:cNvPr id="13" name="Text 9"/>
          <p:cNvSpPr/>
          <p:nvPr/>
        </p:nvSpPr>
        <p:spPr>
          <a:xfrm>
            <a:off x="428625" y="2973586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Venta de productos de barbería</a:t>
            </a:r>
            <a:endParaRPr lang="en-US" sz="680" dirty="0"/>
          </a:p>
        </p:txBody>
      </p:sp>
      <p:sp>
        <p:nvSpPr>
          <p:cNvPr id="14" name="Text 10"/>
          <p:cNvSpPr/>
          <p:nvPr/>
        </p:nvSpPr>
        <p:spPr>
          <a:xfrm>
            <a:off x="428625" y="3170039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Gestión de citas y fidelización</a:t>
            </a:r>
            <a:endParaRPr lang="en-US" sz="680" dirty="0"/>
          </a:p>
        </p:txBody>
      </p:sp>
      <p:sp>
        <p:nvSpPr>
          <p:cNvPr id="15" name="Text 11"/>
          <p:cNvSpPr/>
          <p:nvPr/>
        </p:nvSpPr>
        <p:spPr>
          <a:xfrm>
            <a:off x="428625" y="3366492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Promociones y membresías</a:t>
            </a:r>
            <a:endParaRPr lang="en-US" sz="680" dirty="0"/>
          </a:p>
        </p:txBody>
      </p:sp>
      <p:sp>
        <p:nvSpPr>
          <p:cNvPr id="16" name="Text 12"/>
          <p:cNvSpPr/>
          <p:nvPr/>
        </p:nvSpPr>
        <p:spPr>
          <a:xfrm>
            <a:off x="428625" y="3562945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de preferencias del cliente</a:t>
            </a:r>
            <a:endParaRPr lang="en-US" sz="68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150144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9188" y="1134070"/>
            <a:ext cx="17097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 que no hace el proyecto </a:t>
            </a:r>
            <a:endParaRPr lang="en-US" sz="942" dirty="0"/>
          </a:p>
        </p:txBody>
      </p:sp>
      <p:sp>
        <p:nvSpPr>
          <p:cNvPr id="19" name="Text 14"/>
          <p:cNvSpPr/>
          <p:nvPr/>
        </p:nvSpPr>
        <p:spPr>
          <a:xfrm>
            <a:off x="4714875" y="1537692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Fuera de Alcance</a:t>
            </a:r>
            <a:endParaRPr lang="en-US" sz="680" dirty="0"/>
          </a:p>
        </p:txBody>
      </p:sp>
      <p:sp>
        <p:nvSpPr>
          <p:cNvPr id="20" name="Text 15"/>
          <p:cNvSpPr/>
          <p:nvPr/>
        </p:nvSpPr>
        <p:spPr>
          <a:xfrm>
            <a:off x="4714875" y="1721644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Tratamientos médicos o dermatológicos</a:t>
            </a:r>
            <a:endParaRPr lang="en-US" sz="680" dirty="0"/>
          </a:p>
        </p:txBody>
      </p:sp>
      <p:sp>
        <p:nvSpPr>
          <p:cNvPr id="21" name="Text 16"/>
          <p:cNvSpPr/>
          <p:nvPr/>
        </p:nvSpPr>
        <p:spPr>
          <a:xfrm>
            <a:off x="4714875" y="1918097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Cortes o tintes femeninos complejos</a:t>
            </a:r>
            <a:endParaRPr lang="en-US" sz="680" dirty="0"/>
          </a:p>
        </p:txBody>
      </p:sp>
      <p:sp>
        <p:nvSpPr>
          <p:cNvPr id="22" name="Text 17"/>
          <p:cNvSpPr/>
          <p:nvPr/>
        </p:nvSpPr>
        <p:spPr>
          <a:xfrm>
            <a:off x="4714875" y="2114550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Servicios de spa o estética corporal</a:t>
            </a:r>
            <a:endParaRPr lang="en-US" sz="680" dirty="0"/>
          </a:p>
        </p:txBody>
      </p:sp>
      <p:sp>
        <p:nvSpPr>
          <p:cNvPr id="23" name="Text 18"/>
          <p:cNvSpPr/>
          <p:nvPr/>
        </p:nvSpPr>
        <p:spPr>
          <a:xfrm>
            <a:off x="4714875" y="2311003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Peluquería artística o de eventos</a:t>
            </a:r>
            <a:endParaRPr lang="en-US" sz="680" dirty="0"/>
          </a:p>
        </p:txBody>
      </p:sp>
      <p:sp>
        <p:nvSpPr>
          <p:cNvPr id="24" name="Text 19"/>
          <p:cNvSpPr/>
          <p:nvPr/>
        </p:nvSpPr>
        <p:spPr>
          <a:xfrm>
            <a:off x="4714875" y="2507456"/>
            <a:ext cx="4000500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Distribución mayorista de productos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41127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Requerimientos Funcionales y No Funcionales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50144"/>
            <a:ext cx="17859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8656" y="1134070"/>
            <a:ext cx="182481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Requerimientos Funcionales </a:t>
            </a:r>
            <a:endParaRPr lang="en-US" sz="942" dirty="0"/>
          </a:p>
        </p:txBody>
      </p:sp>
      <p:sp>
        <p:nvSpPr>
          <p:cNvPr id="6" name="Text 2"/>
          <p:cNvSpPr/>
          <p:nvPr/>
        </p:nvSpPr>
        <p:spPr>
          <a:xfrm>
            <a:off x="607219" y="1548408"/>
            <a:ext cx="13042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e Inicio de Sesión:</a:t>
            </a:r>
            <a:endParaRPr lang="en-US" sz="732" dirty="0"/>
          </a:p>
        </p:txBody>
      </p:sp>
      <p:sp>
        <p:nvSpPr>
          <p:cNvPr id="7" name="Text 3"/>
          <p:cNvSpPr/>
          <p:nvPr/>
        </p:nvSpPr>
        <p:spPr>
          <a:xfrm>
            <a:off x="1911483" y="1548408"/>
            <a:ext cx="23780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Permitir a usuarios registrarse y autenticarse para </a:t>
            </a:r>
            <a:endParaRPr lang="en-US" sz="732" dirty="0"/>
          </a:p>
        </p:txBody>
      </p:sp>
      <p:sp>
        <p:nvSpPr>
          <p:cNvPr id="8" name="Text 4"/>
          <p:cNvSpPr/>
          <p:nvPr/>
        </p:nvSpPr>
        <p:spPr>
          <a:xfrm>
            <a:off x="607219" y="1708417"/>
            <a:ext cx="8815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compras en la web </a:t>
            </a:r>
            <a:endParaRPr lang="en-US" sz="732" dirty="0"/>
          </a:p>
        </p:txBody>
      </p:sp>
      <p:sp>
        <p:nvSpPr>
          <p:cNvPr id="9" name="Text 5"/>
          <p:cNvSpPr/>
          <p:nvPr/>
        </p:nvSpPr>
        <p:spPr>
          <a:xfrm>
            <a:off x="607219" y="1975582"/>
            <a:ext cx="7048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Autenticación:</a:t>
            </a:r>
            <a:endParaRPr lang="en-US" sz="732" dirty="0"/>
          </a:p>
        </p:txBody>
      </p:sp>
      <p:sp>
        <p:nvSpPr>
          <p:cNvPr id="10" name="Text 6"/>
          <p:cNvSpPr/>
          <p:nvPr/>
        </p:nvSpPr>
        <p:spPr>
          <a:xfrm>
            <a:off x="1312022" y="1975582"/>
            <a:ext cx="25226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Gestión segura de credenciales y sesiones de usuario </a:t>
            </a:r>
            <a:endParaRPr lang="en-US" sz="732" dirty="0"/>
          </a:p>
        </p:txBody>
      </p:sp>
      <p:sp>
        <p:nvSpPr>
          <p:cNvPr id="11" name="Text 7"/>
          <p:cNvSpPr/>
          <p:nvPr/>
        </p:nvSpPr>
        <p:spPr>
          <a:xfrm>
            <a:off x="607219" y="2242747"/>
            <a:ext cx="818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Aplicación Móvil:</a:t>
            </a:r>
            <a:endParaRPr lang="en-US" sz="732" dirty="0"/>
          </a:p>
        </p:txBody>
      </p:sp>
      <p:sp>
        <p:nvSpPr>
          <p:cNvPr id="12" name="Text 8"/>
          <p:cNvSpPr/>
          <p:nvPr/>
        </p:nvSpPr>
        <p:spPr>
          <a:xfrm>
            <a:off x="1425932" y="2242747"/>
            <a:ext cx="25074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Desarrollo de app móvil para interacción con clientes </a:t>
            </a:r>
            <a:endParaRPr lang="en-US" sz="732" dirty="0"/>
          </a:p>
        </p:txBody>
      </p:sp>
      <p:sp>
        <p:nvSpPr>
          <p:cNvPr id="13" name="Text 9"/>
          <p:cNvSpPr/>
          <p:nvPr/>
        </p:nvSpPr>
        <p:spPr>
          <a:xfrm>
            <a:off x="607219" y="2509912"/>
            <a:ext cx="8320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 de Pago:</a:t>
            </a:r>
            <a:endParaRPr lang="en-US" sz="732" dirty="0"/>
          </a:p>
        </p:txBody>
      </p:sp>
      <p:sp>
        <p:nvSpPr>
          <p:cNvPr id="14" name="Text 10"/>
          <p:cNvSpPr/>
          <p:nvPr/>
        </p:nvSpPr>
        <p:spPr>
          <a:xfrm>
            <a:off x="1439242" y="2509912"/>
            <a:ext cx="28938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Integración de pasarela de pago para procesar transacciones </a:t>
            </a:r>
            <a:endParaRPr lang="en-US" sz="732" dirty="0"/>
          </a:p>
        </p:txBody>
      </p:sp>
      <p:sp>
        <p:nvSpPr>
          <p:cNvPr id="15" name="Text 11"/>
          <p:cNvSpPr/>
          <p:nvPr/>
        </p:nvSpPr>
        <p:spPr>
          <a:xfrm>
            <a:off x="607219" y="2777077"/>
            <a:ext cx="8910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de Datos:</a:t>
            </a:r>
            <a:endParaRPr lang="en-US" sz="732" dirty="0"/>
          </a:p>
        </p:txBody>
      </p:sp>
      <p:sp>
        <p:nvSpPr>
          <p:cNvPr id="16" name="Text 12"/>
          <p:cNvSpPr/>
          <p:nvPr/>
        </p:nvSpPr>
        <p:spPr>
          <a:xfrm>
            <a:off x="1498234" y="2777077"/>
            <a:ext cx="25759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Almacenamiento de información de clientes, compras, </a:t>
            </a:r>
            <a:endParaRPr lang="en-US" sz="732" dirty="0"/>
          </a:p>
        </p:txBody>
      </p:sp>
      <p:sp>
        <p:nvSpPr>
          <p:cNvPr id="17" name="Text 13"/>
          <p:cNvSpPr/>
          <p:nvPr/>
        </p:nvSpPr>
        <p:spPr>
          <a:xfrm>
            <a:off x="607219" y="2937086"/>
            <a:ext cx="98932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servicios e inventario </a:t>
            </a:r>
            <a:endParaRPr lang="en-US" sz="732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150144"/>
            <a:ext cx="160734" cy="1428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47047" y="1134070"/>
            <a:ext cx="20423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Requerimientos No Funcionales </a:t>
            </a:r>
            <a:endParaRPr lang="en-US" sz="942" dirty="0"/>
          </a:p>
        </p:txBody>
      </p:sp>
      <p:sp>
        <p:nvSpPr>
          <p:cNvPr id="20" name="Text 15"/>
          <p:cNvSpPr/>
          <p:nvPr/>
        </p:nvSpPr>
        <p:spPr>
          <a:xfrm>
            <a:off x="4893469" y="1548408"/>
            <a:ext cx="10699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Tiempo de Respuesta:</a:t>
            </a:r>
            <a:endParaRPr lang="en-US" sz="732" dirty="0"/>
          </a:p>
        </p:txBody>
      </p:sp>
      <p:sp>
        <p:nvSpPr>
          <p:cNvPr id="21" name="Text 16"/>
          <p:cNvSpPr/>
          <p:nvPr/>
        </p:nvSpPr>
        <p:spPr>
          <a:xfrm>
            <a:off x="5963413" y="1548408"/>
            <a:ext cx="23123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Máximo de 4 segundos para operaciones críticas </a:t>
            </a:r>
            <a:endParaRPr lang="en-US" sz="732" dirty="0"/>
          </a:p>
        </p:txBody>
      </p:sp>
      <p:sp>
        <p:nvSpPr>
          <p:cNvPr id="22" name="Text 17"/>
          <p:cNvSpPr/>
          <p:nvPr/>
        </p:nvSpPr>
        <p:spPr>
          <a:xfrm>
            <a:off x="4893469" y="1815573"/>
            <a:ext cx="8090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Diseño Intuitivo:</a:t>
            </a:r>
            <a:endParaRPr lang="en-US" sz="732" dirty="0"/>
          </a:p>
        </p:txBody>
      </p:sp>
      <p:sp>
        <p:nvSpPr>
          <p:cNvPr id="23" name="Text 18"/>
          <p:cNvSpPr/>
          <p:nvPr/>
        </p:nvSpPr>
        <p:spPr>
          <a:xfrm>
            <a:off x="5702471" y="1815573"/>
            <a:ext cx="27904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Interfaz fácil de usar y comprender para todos los usuarios </a:t>
            </a:r>
            <a:endParaRPr lang="en-US" sz="732" dirty="0"/>
          </a:p>
        </p:txBody>
      </p:sp>
      <p:sp>
        <p:nvSpPr>
          <p:cNvPr id="24" name="Text 19"/>
          <p:cNvSpPr/>
          <p:nvPr/>
        </p:nvSpPr>
        <p:spPr>
          <a:xfrm>
            <a:off x="4893469" y="2082738"/>
            <a:ext cx="9806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Seguridad de Datos:</a:t>
            </a:r>
            <a:endParaRPr lang="en-US" sz="732" dirty="0"/>
          </a:p>
        </p:txBody>
      </p:sp>
      <p:sp>
        <p:nvSpPr>
          <p:cNvPr id="25" name="Text 20"/>
          <p:cNvSpPr/>
          <p:nvPr/>
        </p:nvSpPr>
        <p:spPr>
          <a:xfrm>
            <a:off x="5874116" y="2082738"/>
            <a:ext cx="28313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Medidas robustas de protección, cifrado y control de acceso </a:t>
            </a:r>
            <a:endParaRPr lang="en-US" sz="732" dirty="0"/>
          </a:p>
        </p:txBody>
      </p:sp>
      <p:sp>
        <p:nvSpPr>
          <p:cNvPr id="26" name="Text 21"/>
          <p:cNvSpPr/>
          <p:nvPr/>
        </p:nvSpPr>
        <p:spPr>
          <a:xfrm>
            <a:off x="4893469" y="2349903"/>
            <a:ext cx="6618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Escalabilidad:</a:t>
            </a:r>
            <a:endParaRPr lang="en-US" sz="732" dirty="0"/>
          </a:p>
        </p:txBody>
      </p:sp>
      <p:sp>
        <p:nvSpPr>
          <p:cNvPr id="27" name="Text 22"/>
          <p:cNvSpPr/>
          <p:nvPr/>
        </p:nvSpPr>
        <p:spPr>
          <a:xfrm>
            <a:off x="5555354" y="2349903"/>
            <a:ext cx="29086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Capacidad de soportar crecimiento futuro sin degradación de </a:t>
            </a:r>
            <a:endParaRPr lang="en-US" sz="732" dirty="0"/>
          </a:p>
        </p:txBody>
      </p:sp>
      <p:sp>
        <p:nvSpPr>
          <p:cNvPr id="28" name="Text 23"/>
          <p:cNvSpPr/>
          <p:nvPr/>
        </p:nvSpPr>
        <p:spPr>
          <a:xfrm>
            <a:off x="4893469" y="2509912"/>
            <a:ext cx="5789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rendimiento </a:t>
            </a:r>
            <a:endParaRPr lang="en-US" sz="732" dirty="0"/>
          </a:p>
        </p:txBody>
      </p:sp>
      <p:sp>
        <p:nvSpPr>
          <p:cNvPr id="29" name="Text 24"/>
          <p:cNvSpPr/>
          <p:nvPr/>
        </p:nvSpPr>
        <p:spPr>
          <a:xfrm>
            <a:off x="4893469" y="2777077"/>
            <a:ext cx="7289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Disponibilidad:</a:t>
            </a:r>
            <a:endParaRPr lang="en-US" sz="732" dirty="0"/>
          </a:p>
        </p:txBody>
      </p:sp>
      <p:sp>
        <p:nvSpPr>
          <p:cNvPr id="30" name="Text 25"/>
          <p:cNvSpPr/>
          <p:nvPr/>
        </p:nvSpPr>
        <p:spPr>
          <a:xfrm>
            <a:off x="5622382" y="2777077"/>
            <a:ext cx="21639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Alta disponibilidad y confiabilidad del sistema </a:t>
            </a:r>
            <a:endParaRPr lang="en-US" sz="7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41127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Metodología de Desarrollo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1075134"/>
            <a:ext cx="206298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 proyecto adoptará la metodología ágil </a:t>
            </a:r>
            <a:endParaRPr lang="en-US" sz="785" dirty="0"/>
          </a:p>
        </p:txBody>
      </p:sp>
      <p:sp>
        <p:nvSpPr>
          <p:cNvPr id="5" name="Text 2"/>
          <p:cNvSpPr/>
          <p:nvPr/>
        </p:nvSpPr>
        <p:spPr>
          <a:xfrm>
            <a:off x="2491606" y="1075134"/>
            <a:ext cx="3317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Scrum</a:t>
            </a:r>
            <a:endParaRPr lang="en-US" sz="785" dirty="0"/>
          </a:p>
        </p:txBody>
      </p:sp>
      <p:sp>
        <p:nvSpPr>
          <p:cNvPr id="6" name="Text 3"/>
          <p:cNvSpPr/>
          <p:nvPr/>
        </p:nvSpPr>
        <p:spPr>
          <a:xfrm>
            <a:off x="2823372" y="1075134"/>
            <a:ext cx="544376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un marco de trabajo iterativo e incremental que permite la entrega de valor de forma temprana y continua, </a:t>
            </a:r>
            <a:endParaRPr lang="en-US" sz="785" dirty="0"/>
          </a:p>
        </p:txBody>
      </p:sp>
      <p:sp>
        <p:nvSpPr>
          <p:cNvPr id="7" name="Text 4"/>
          <p:cNvSpPr/>
          <p:nvPr/>
        </p:nvSpPr>
        <p:spPr>
          <a:xfrm>
            <a:off x="428625" y="1246584"/>
            <a:ext cx="292249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adaptándose a los cambios y fomentando la colaboración.</a:t>
            </a:r>
            <a:endParaRPr lang="en-US" sz="785" dirty="0"/>
          </a:p>
        </p:txBody>
      </p:sp>
      <p:sp>
        <p:nvSpPr>
          <p:cNvPr id="8" name="Shape 5"/>
          <p:cNvSpPr/>
          <p:nvPr/>
        </p:nvSpPr>
        <p:spPr>
          <a:xfrm>
            <a:off x="428625" y="1619845"/>
            <a:ext cx="285750" cy="28575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428625" y="161984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821531" y="1619845"/>
            <a:ext cx="31128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Análisis de Requerimientos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821531" y="1810941"/>
            <a:ext cx="311288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Entender a fondo las necesidades del cliente y los usuarios finales.</a:t>
            </a:r>
            <a:endParaRPr lang="en-US" sz="732" dirty="0"/>
          </a:p>
        </p:txBody>
      </p:sp>
      <p:sp>
        <p:nvSpPr>
          <p:cNvPr id="12" name="Shape 9"/>
          <p:cNvSpPr/>
          <p:nvPr/>
        </p:nvSpPr>
        <p:spPr>
          <a:xfrm>
            <a:off x="4643438" y="1619845"/>
            <a:ext cx="285750" cy="28575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4643438" y="161984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036344" y="1619845"/>
            <a:ext cx="36790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Diseño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5036344" y="1810941"/>
            <a:ext cx="36790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Planificar cómo funcionará el sistema, incluyendo estructura, interfaces y base de datos.</a:t>
            </a:r>
            <a:endParaRPr lang="en-US" sz="732" dirty="0"/>
          </a:p>
        </p:txBody>
      </p:sp>
      <p:sp>
        <p:nvSpPr>
          <p:cNvPr id="16" name="Shape 13"/>
          <p:cNvSpPr/>
          <p:nvPr/>
        </p:nvSpPr>
        <p:spPr>
          <a:xfrm>
            <a:off x="428625" y="2749144"/>
            <a:ext cx="285750" cy="28575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428625" y="274914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821531" y="2749144"/>
            <a:ext cx="3430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Desarrollo e Implementación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821531" y="2940239"/>
            <a:ext cx="34302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Programar las funcionalidades del sistema en iteraciones cortas (sprints).</a:t>
            </a:r>
            <a:endParaRPr lang="en-US" sz="732" dirty="0"/>
          </a:p>
        </p:txBody>
      </p:sp>
      <p:sp>
        <p:nvSpPr>
          <p:cNvPr id="20" name="Shape 17"/>
          <p:cNvSpPr/>
          <p:nvPr/>
        </p:nvSpPr>
        <p:spPr>
          <a:xfrm>
            <a:off x="4643438" y="2749144"/>
            <a:ext cx="285750" cy="28575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4643438" y="274914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5036344" y="2749144"/>
            <a:ext cx="36790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Pruebas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5036344" y="2940239"/>
            <a:ext cx="367903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Verificar que todas las funcionalidades operen correctamente y cumplan con los requerimientos.</a:t>
            </a:r>
            <a:endParaRPr lang="en-US" sz="732" dirty="0"/>
          </a:p>
        </p:txBody>
      </p:sp>
      <p:sp>
        <p:nvSpPr>
          <p:cNvPr id="24" name="Shape 21"/>
          <p:cNvSpPr/>
          <p:nvPr/>
        </p:nvSpPr>
        <p:spPr>
          <a:xfrm>
            <a:off x="428625" y="3878442"/>
            <a:ext cx="285750" cy="28575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428625" y="3878442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821531" y="3878442"/>
            <a:ext cx="2047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Despliegue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821531" y="4069538"/>
            <a:ext cx="204738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Poner el sistema en un entorno de uso real.</a:t>
            </a:r>
            <a:endParaRPr lang="en-US" sz="732" dirty="0"/>
          </a:p>
        </p:txBody>
      </p:sp>
      <p:sp>
        <p:nvSpPr>
          <p:cNvPr id="28" name="Shape 25"/>
          <p:cNvSpPr/>
          <p:nvPr/>
        </p:nvSpPr>
        <p:spPr>
          <a:xfrm>
            <a:off x="4643438" y="3878442"/>
            <a:ext cx="285750" cy="28575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4643438" y="3878442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5036344" y="3878442"/>
            <a:ext cx="26476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Mantenimiento</a:t>
            </a:r>
            <a:endParaRPr lang="en-US" sz="837" dirty="0"/>
          </a:p>
        </p:txBody>
      </p:sp>
      <p:sp>
        <p:nvSpPr>
          <p:cNvPr id="31" name="Text 28"/>
          <p:cNvSpPr/>
          <p:nvPr/>
        </p:nvSpPr>
        <p:spPr>
          <a:xfrm>
            <a:off x="5036344" y="4069538"/>
            <a:ext cx="264765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Corregir errores y agregar mejoras continuas al sistema.</a:t>
            </a: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CDBFD-71F7-04F6-1EE3-0AEBD171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B073E4B-19F4-F2D5-47DE-0A4AC13DB1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366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FAFFAAA-702C-2E78-A07F-0B97CA37DD07}"/>
              </a:ext>
            </a:extLst>
          </p:cNvPr>
          <p:cNvSpPr/>
          <p:nvPr/>
        </p:nvSpPr>
        <p:spPr>
          <a:xfrm>
            <a:off x="428625" y="446312"/>
            <a:ext cx="8286750" cy="405752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Cronograma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FB3E6D4-DBD9-1AE9-7F4A-CC1CAF538CA0}"/>
              </a:ext>
            </a:extLst>
          </p:cNvPr>
          <p:cNvSpPr/>
          <p:nvPr/>
        </p:nvSpPr>
        <p:spPr>
          <a:xfrm>
            <a:off x="821531" y="1633124"/>
            <a:ext cx="65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837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F357BBA-6D78-8C77-835D-9FCC1F888DDF}"/>
              </a:ext>
            </a:extLst>
          </p:cNvPr>
          <p:cNvSpPr/>
          <p:nvPr/>
        </p:nvSpPr>
        <p:spPr>
          <a:xfrm>
            <a:off x="4643438" y="1690232"/>
            <a:ext cx="285750" cy="144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942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7908CDB-4AF7-D5E3-DB75-373743B671CC}"/>
              </a:ext>
            </a:extLst>
          </p:cNvPr>
          <p:cNvSpPr/>
          <p:nvPr/>
        </p:nvSpPr>
        <p:spPr>
          <a:xfrm>
            <a:off x="4643438" y="2819531"/>
            <a:ext cx="285750" cy="144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942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41494E11-F16C-3B37-68E8-CB3A3990C3A2}"/>
              </a:ext>
            </a:extLst>
          </p:cNvPr>
          <p:cNvSpPr/>
          <p:nvPr/>
        </p:nvSpPr>
        <p:spPr>
          <a:xfrm>
            <a:off x="4643438" y="3948829"/>
            <a:ext cx="285750" cy="144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942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5D38DB92-7BE7-4D2E-D85D-E3F2A7721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32" y="1191794"/>
            <a:ext cx="8605736" cy="275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79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41127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 de Trabajo y Tecnologías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157288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363" y="1134070"/>
            <a:ext cx="5517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Backend </a:t>
            </a:r>
            <a:endParaRPr lang="en-US" sz="942" dirty="0"/>
          </a:p>
        </p:txBody>
      </p:sp>
      <p:sp>
        <p:nvSpPr>
          <p:cNvPr id="6" name="Text 2"/>
          <p:cNvSpPr/>
          <p:nvPr/>
        </p:nvSpPr>
        <p:spPr>
          <a:xfrm>
            <a:off x="428625" y="1537692"/>
            <a:ext cx="26193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Lenguaje</a:t>
            </a:r>
            <a:endParaRPr lang="en-US" sz="680" dirty="0"/>
          </a:p>
        </p:txBody>
      </p:sp>
      <p:sp>
        <p:nvSpPr>
          <p:cNvPr id="7" name="Text 3"/>
          <p:cNvSpPr/>
          <p:nvPr/>
        </p:nvSpPr>
        <p:spPr>
          <a:xfrm>
            <a:off x="535781" y="1732359"/>
            <a:ext cx="3470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Python</a:t>
            </a:r>
            <a:endParaRPr lang="en-US" sz="732" dirty="0"/>
          </a:p>
        </p:txBody>
      </p:sp>
      <p:sp>
        <p:nvSpPr>
          <p:cNvPr id="8" name="Text 4"/>
          <p:cNvSpPr/>
          <p:nvPr/>
        </p:nvSpPr>
        <p:spPr>
          <a:xfrm>
            <a:off x="428625" y="2131684"/>
            <a:ext cx="26193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</a:t>
            </a:r>
            <a:endParaRPr lang="en-US" sz="680" dirty="0"/>
          </a:p>
        </p:txBody>
      </p:sp>
      <p:sp>
        <p:nvSpPr>
          <p:cNvPr id="9" name="Text 5"/>
          <p:cNvSpPr/>
          <p:nvPr/>
        </p:nvSpPr>
        <p:spPr>
          <a:xfrm>
            <a:off x="535781" y="2326351"/>
            <a:ext cx="3493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Django</a:t>
            </a:r>
            <a:endParaRPr lang="en-US" sz="732" dirty="0"/>
          </a:p>
        </p:txBody>
      </p:sp>
      <p:sp>
        <p:nvSpPr>
          <p:cNvPr id="10" name="Text 6"/>
          <p:cNvSpPr/>
          <p:nvPr/>
        </p:nvSpPr>
        <p:spPr>
          <a:xfrm>
            <a:off x="428625" y="2547082"/>
            <a:ext cx="2619384" cy="137154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Desarrollo rápido y seguro</a:t>
            </a:r>
            <a:endParaRPr lang="en-US" sz="628" dirty="0"/>
          </a:p>
        </p:txBody>
      </p:sp>
      <p:sp>
        <p:nvSpPr>
          <p:cNvPr id="11" name="Text 7"/>
          <p:cNvSpPr/>
          <p:nvPr/>
        </p:nvSpPr>
        <p:spPr>
          <a:xfrm>
            <a:off x="428625" y="2934267"/>
            <a:ext cx="26193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Librerías Clave</a:t>
            </a:r>
            <a:endParaRPr lang="en-US" sz="680" dirty="0"/>
          </a:p>
        </p:txBody>
      </p:sp>
      <p:sp>
        <p:nvSpPr>
          <p:cNvPr id="12" name="Text 8"/>
          <p:cNvSpPr/>
          <p:nvPr/>
        </p:nvSpPr>
        <p:spPr>
          <a:xfrm>
            <a:off x="428625" y="3118219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Django ORM</a:t>
            </a:r>
            <a:endParaRPr lang="en-US" sz="732" dirty="0"/>
          </a:p>
        </p:txBody>
      </p:sp>
      <p:sp>
        <p:nvSpPr>
          <p:cNvPr id="13" name="Text 9"/>
          <p:cNvSpPr/>
          <p:nvPr/>
        </p:nvSpPr>
        <p:spPr>
          <a:xfrm>
            <a:off x="428625" y="3349665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Django REST Framework</a:t>
            </a:r>
            <a:endParaRPr lang="en-US" sz="732" dirty="0"/>
          </a:p>
        </p:txBody>
      </p:sp>
      <p:sp>
        <p:nvSpPr>
          <p:cNvPr id="14" name="Text 10"/>
          <p:cNvSpPr/>
          <p:nvPr/>
        </p:nvSpPr>
        <p:spPr>
          <a:xfrm>
            <a:off x="428625" y="3581112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Django-Rest-Framework-SimpleJWT</a:t>
            </a:r>
            <a:endParaRPr lang="en-US" sz="732" dirty="0"/>
          </a:p>
        </p:txBody>
      </p:sp>
      <p:sp>
        <p:nvSpPr>
          <p:cNvPr id="15" name="Text 11"/>
          <p:cNvSpPr/>
          <p:nvPr/>
        </p:nvSpPr>
        <p:spPr>
          <a:xfrm>
            <a:off x="428625" y="3812558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Seguridad y autenticación</a:t>
            </a:r>
            <a:endParaRPr lang="en-US" sz="732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2322" y="1157288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48059" y="1134070"/>
            <a:ext cx="9007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Frontend Web 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3262322" y="1537692"/>
            <a:ext cx="26193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</a:t>
            </a:r>
            <a:endParaRPr lang="en-US" sz="680" dirty="0"/>
          </a:p>
        </p:txBody>
      </p:sp>
      <p:sp>
        <p:nvSpPr>
          <p:cNvPr id="19" name="Text 14"/>
          <p:cNvSpPr/>
          <p:nvPr/>
        </p:nvSpPr>
        <p:spPr>
          <a:xfrm>
            <a:off x="3369478" y="1732359"/>
            <a:ext cx="8777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Django Templates</a:t>
            </a:r>
            <a:endParaRPr lang="en-US" sz="732" dirty="0"/>
          </a:p>
        </p:txBody>
      </p:sp>
      <p:sp>
        <p:nvSpPr>
          <p:cNvPr id="20" name="Text 15"/>
          <p:cNvSpPr/>
          <p:nvPr/>
        </p:nvSpPr>
        <p:spPr>
          <a:xfrm>
            <a:off x="3262322" y="1953090"/>
            <a:ext cx="2619384" cy="137154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Framework JS moderno</a:t>
            </a:r>
            <a:endParaRPr lang="en-US" sz="628" dirty="0"/>
          </a:p>
        </p:txBody>
      </p:sp>
      <p:sp>
        <p:nvSpPr>
          <p:cNvPr id="21" name="Text 16"/>
          <p:cNvSpPr/>
          <p:nvPr/>
        </p:nvSpPr>
        <p:spPr>
          <a:xfrm>
            <a:off x="3262322" y="2340276"/>
            <a:ext cx="26193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Librerías de UI</a:t>
            </a:r>
            <a:endParaRPr lang="en-US" sz="680" dirty="0"/>
          </a:p>
        </p:txBody>
      </p:sp>
      <p:sp>
        <p:nvSpPr>
          <p:cNvPr id="22" name="Text 17"/>
          <p:cNvSpPr/>
          <p:nvPr/>
        </p:nvSpPr>
        <p:spPr>
          <a:xfrm>
            <a:off x="3262322" y="2524227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Material Design</a:t>
            </a:r>
            <a:endParaRPr lang="en-US" sz="732" dirty="0"/>
          </a:p>
        </p:txBody>
      </p:sp>
      <p:sp>
        <p:nvSpPr>
          <p:cNvPr id="23" name="Text 18"/>
          <p:cNvSpPr/>
          <p:nvPr/>
        </p:nvSpPr>
        <p:spPr>
          <a:xfrm>
            <a:off x="3262322" y="2755674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Bootstrap</a:t>
            </a:r>
            <a:endParaRPr lang="en-US" sz="732" dirty="0"/>
          </a:p>
        </p:txBody>
      </p:sp>
      <p:sp>
        <p:nvSpPr>
          <p:cNvPr id="24" name="Text 19"/>
          <p:cNvSpPr/>
          <p:nvPr/>
        </p:nvSpPr>
        <p:spPr>
          <a:xfrm>
            <a:off x="3262322" y="2987120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Componentes personalizados</a:t>
            </a:r>
            <a:endParaRPr lang="en-US" sz="732" dirty="0"/>
          </a:p>
        </p:txBody>
      </p:sp>
      <p:sp>
        <p:nvSpPr>
          <p:cNvPr id="25" name="Text 20"/>
          <p:cNvSpPr/>
          <p:nvPr/>
        </p:nvSpPr>
        <p:spPr>
          <a:xfrm>
            <a:off x="3262322" y="3397160"/>
            <a:ext cx="26193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Características</a:t>
            </a:r>
            <a:endParaRPr lang="en-US" sz="680" dirty="0"/>
          </a:p>
        </p:txBody>
      </p:sp>
      <p:sp>
        <p:nvSpPr>
          <p:cNvPr id="26" name="Text 21"/>
          <p:cNvSpPr/>
          <p:nvPr/>
        </p:nvSpPr>
        <p:spPr>
          <a:xfrm>
            <a:off x="3262322" y="3581112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Interfaz intuitiva</a:t>
            </a:r>
            <a:endParaRPr lang="en-US" sz="732" dirty="0"/>
          </a:p>
        </p:txBody>
      </p:sp>
      <p:sp>
        <p:nvSpPr>
          <p:cNvPr id="27" name="Text 22"/>
          <p:cNvSpPr/>
          <p:nvPr/>
        </p:nvSpPr>
        <p:spPr>
          <a:xfrm>
            <a:off x="3262322" y="3812558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Diseño responsivo</a:t>
            </a:r>
            <a:endParaRPr lang="en-US" sz="732" dirty="0"/>
          </a:p>
        </p:txBody>
      </p:sp>
      <p:sp>
        <p:nvSpPr>
          <p:cNvPr id="28" name="Text 23"/>
          <p:cNvSpPr/>
          <p:nvPr/>
        </p:nvSpPr>
        <p:spPr>
          <a:xfrm>
            <a:off x="3262322" y="4044004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Experiencia fluida</a:t>
            </a:r>
            <a:endParaRPr lang="en-US" sz="732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19" y="1157288"/>
            <a:ext cx="96441" cy="128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249609" y="1134070"/>
            <a:ext cx="10450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Aplicación Móvil </a:t>
            </a:r>
            <a:endParaRPr lang="en-US" sz="942" dirty="0"/>
          </a:p>
        </p:txBody>
      </p:sp>
      <p:sp>
        <p:nvSpPr>
          <p:cNvPr id="31" name="Text 25"/>
          <p:cNvSpPr/>
          <p:nvPr/>
        </p:nvSpPr>
        <p:spPr>
          <a:xfrm>
            <a:off x="6096019" y="1537692"/>
            <a:ext cx="26193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Lenguaje</a:t>
            </a:r>
            <a:endParaRPr lang="en-US" sz="680" dirty="0"/>
          </a:p>
        </p:txBody>
      </p:sp>
      <p:sp>
        <p:nvSpPr>
          <p:cNvPr id="32" name="Text 26"/>
          <p:cNvSpPr/>
          <p:nvPr/>
        </p:nvSpPr>
        <p:spPr>
          <a:xfrm>
            <a:off x="6203175" y="1732359"/>
            <a:ext cx="3895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Angular</a:t>
            </a:r>
            <a:endParaRPr lang="en-US" sz="732" dirty="0"/>
          </a:p>
        </p:txBody>
      </p:sp>
      <p:sp>
        <p:nvSpPr>
          <p:cNvPr id="33" name="Text 27"/>
          <p:cNvSpPr/>
          <p:nvPr/>
        </p:nvSpPr>
        <p:spPr>
          <a:xfrm>
            <a:off x="6096019" y="2131684"/>
            <a:ext cx="26193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 Híbrido</a:t>
            </a:r>
            <a:endParaRPr lang="en-US" sz="680" dirty="0"/>
          </a:p>
        </p:txBody>
      </p:sp>
      <p:sp>
        <p:nvSpPr>
          <p:cNvPr id="34" name="Text 28"/>
          <p:cNvSpPr/>
          <p:nvPr/>
        </p:nvSpPr>
        <p:spPr>
          <a:xfrm>
            <a:off x="6203175" y="2326351"/>
            <a:ext cx="2414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Ionic</a:t>
            </a:r>
            <a:endParaRPr lang="en-US" sz="732" dirty="0"/>
          </a:p>
        </p:txBody>
      </p:sp>
      <p:sp>
        <p:nvSpPr>
          <p:cNvPr id="35" name="Text 29"/>
          <p:cNvSpPr/>
          <p:nvPr/>
        </p:nvSpPr>
        <p:spPr>
          <a:xfrm>
            <a:off x="6096019" y="2547082"/>
            <a:ext cx="2619384" cy="137154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28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iOS y Android</a:t>
            </a:r>
            <a:endParaRPr lang="en-US" sz="628" dirty="0"/>
          </a:p>
        </p:txBody>
      </p:sp>
      <p:sp>
        <p:nvSpPr>
          <p:cNvPr id="36" name="Text 30"/>
          <p:cNvSpPr/>
          <p:nvPr/>
        </p:nvSpPr>
        <p:spPr>
          <a:xfrm>
            <a:off x="6096019" y="2934267"/>
            <a:ext cx="26193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Librerías Clave</a:t>
            </a:r>
            <a:endParaRPr lang="en-US" sz="680" dirty="0"/>
          </a:p>
        </p:txBody>
      </p:sp>
      <p:sp>
        <p:nvSpPr>
          <p:cNvPr id="37" name="Text 31"/>
          <p:cNvSpPr/>
          <p:nvPr/>
        </p:nvSpPr>
        <p:spPr>
          <a:xfrm>
            <a:off x="6096019" y="3118219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Componentes Ionic</a:t>
            </a:r>
            <a:endParaRPr lang="en-US" sz="732" dirty="0"/>
          </a:p>
        </p:txBody>
      </p:sp>
      <p:sp>
        <p:nvSpPr>
          <p:cNvPr id="38" name="Text 32"/>
          <p:cNvSpPr/>
          <p:nvPr/>
        </p:nvSpPr>
        <p:spPr>
          <a:xfrm>
            <a:off x="6096019" y="3349665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Seguridad Angular</a:t>
            </a:r>
            <a:endParaRPr lang="en-US" sz="732" dirty="0"/>
          </a:p>
        </p:txBody>
      </p:sp>
      <p:sp>
        <p:nvSpPr>
          <p:cNvPr id="39" name="Text 33"/>
          <p:cNvSpPr/>
          <p:nvPr/>
        </p:nvSpPr>
        <p:spPr>
          <a:xfrm>
            <a:off x="6096019" y="3581112"/>
            <a:ext cx="2619384" cy="160009"/>
          </a:xfrm>
          <a:prstGeom prst="rect">
            <a:avLst/>
          </a:prstGeom>
          <a:noFill/>
          <a:ln/>
        </p:spPr>
        <p:txBody>
          <a:bodyPr wrap="none" lIns="127508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Librerías de UI nativas</a:t>
            </a:r>
            <a:endParaRPr lang="en-US" sz="7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41127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Arquitectura de la Solución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1144172"/>
            <a:ext cx="8286750" cy="887611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428625" y="1144172"/>
            <a:ext cx="28575" cy="887611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78" y="1445102"/>
            <a:ext cx="321469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287047"/>
            <a:ext cx="7429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 de Presentación (Frontend)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1143000" y="1519219"/>
            <a:ext cx="74295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Interfaz de usuario para web y dispositivos móviles, permitiendo la interacción directa con los clientes, barberos y administradores.</a:t>
            </a:r>
            <a:endParaRPr lang="en-US" sz="680" dirty="0"/>
          </a:p>
        </p:txBody>
      </p:sp>
      <p:sp>
        <p:nvSpPr>
          <p:cNvPr id="9" name="Shape 5"/>
          <p:cNvSpPr/>
          <p:nvPr/>
        </p:nvSpPr>
        <p:spPr>
          <a:xfrm>
            <a:off x="1143000" y="1715672"/>
            <a:ext cx="1135410" cy="173236"/>
          </a:xfrm>
          <a:prstGeom prst="rect">
            <a:avLst/>
          </a:prstGeom>
          <a:solidFill>
            <a:srgbClr val="27AE60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6"/>
          <p:cNvSpPr/>
          <p:nvPr/>
        </p:nvSpPr>
        <p:spPr>
          <a:xfrm>
            <a:off x="1143000" y="1715672"/>
            <a:ext cx="1135410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Aplicación Web (Django)</a:t>
            </a:r>
            <a:endParaRPr lang="en-US" sz="628" dirty="0"/>
          </a:p>
        </p:txBody>
      </p:sp>
      <p:sp>
        <p:nvSpPr>
          <p:cNvPr id="11" name="Shape 7"/>
          <p:cNvSpPr/>
          <p:nvPr/>
        </p:nvSpPr>
        <p:spPr>
          <a:xfrm>
            <a:off x="2385566" y="1715672"/>
            <a:ext cx="1502141" cy="173236"/>
          </a:xfrm>
          <a:prstGeom prst="rect">
            <a:avLst/>
          </a:prstGeom>
          <a:solidFill>
            <a:srgbClr val="27AE60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8"/>
          <p:cNvSpPr/>
          <p:nvPr/>
        </p:nvSpPr>
        <p:spPr>
          <a:xfrm>
            <a:off x="2385566" y="1715672"/>
            <a:ext cx="1502141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Aplicación Móvil (Angular + Ionic)</a:t>
            </a:r>
            <a:endParaRPr lang="en-US" sz="628" dirty="0"/>
          </a:p>
        </p:txBody>
      </p:sp>
      <p:sp>
        <p:nvSpPr>
          <p:cNvPr id="13" name="Shape 9"/>
          <p:cNvSpPr/>
          <p:nvPr/>
        </p:nvSpPr>
        <p:spPr>
          <a:xfrm>
            <a:off x="3994863" y="1715672"/>
            <a:ext cx="966611" cy="173236"/>
          </a:xfrm>
          <a:prstGeom prst="rect">
            <a:avLst/>
          </a:prstGeom>
          <a:solidFill>
            <a:srgbClr val="27AE60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/>
          <p:nvPr/>
        </p:nvSpPr>
        <p:spPr>
          <a:xfrm>
            <a:off x="3994863" y="1715672"/>
            <a:ext cx="966611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27AE6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Interfaces Intuitivas</a:t>
            </a:r>
            <a:endParaRPr lang="en-US" sz="628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422" y="2184760"/>
            <a:ext cx="107156" cy="14287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8625" y="2480611"/>
            <a:ext cx="8286750" cy="887611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2"/>
          <p:cNvSpPr/>
          <p:nvPr/>
        </p:nvSpPr>
        <p:spPr>
          <a:xfrm>
            <a:off x="428625" y="2480611"/>
            <a:ext cx="28575" cy="887611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2781542"/>
            <a:ext cx="357188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2623486"/>
            <a:ext cx="7429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 de Lógica de Negocio (Backend)</a:t>
            </a:r>
            <a:endParaRPr lang="en-US" sz="942" dirty="0"/>
          </a:p>
        </p:txBody>
      </p:sp>
      <p:sp>
        <p:nvSpPr>
          <p:cNvPr id="20" name="Text 14"/>
          <p:cNvSpPr/>
          <p:nvPr/>
        </p:nvSpPr>
        <p:spPr>
          <a:xfrm>
            <a:off x="1143000" y="2855658"/>
            <a:ext cx="74295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Servicios RESTful que procesan la lógica del negocio, gestionan autenticación, citas, inventario, pagos y generación de estadísticas.</a:t>
            </a:r>
            <a:endParaRPr lang="en-US" sz="680" dirty="0"/>
          </a:p>
        </p:txBody>
      </p:sp>
      <p:sp>
        <p:nvSpPr>
          <p:cNvPr id="21" name="Shape 15"/>
          <p:cNvSpPr/>
          <p:nvPr/>
        </p:nvSpPr>
        <p:spPr>
          <a:xfrm>
            <a:off x="1143000" y="3052111"/>
            <a:ext cx="650891" cy="173236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6"/>
          <p:cNvSpPr/>
          <p:nvPr/>
        </p:nvSpPr>
        <p:spPr>
          <a:xfrm>
            <a:off x="1143000" y="3052111"/>
            <a:ext cx="650891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APIs RESTful</a:t>
            </a:r>
            <a:endParaRPr lang="en-US" sz="628" dirty="0"/>
          </a:p>
        </p:txBody>
      </p:sp>
      <p:sp>
        <p:nvSpPr>
          <p:cNvPr id="23" name="Shape 17"/>
          <p:cNvSpPr/>
          <p:nvPr/>
        </p:nvSpPr>
        <p:spPr>
          <a:xfrm>
            <a:off x="1901047" y="3052111"/>
            <a:ext cx="804090" cy="173236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18"/>
          <p:cNvSpPr/>
          <p:nvPr/>
        </p:nvSpPr>
        <p:spPr>
          <a:xfrm>
            <a:off x="1901047" y="3052111"/>
            <a:ext cx="804090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Django (Python)</a:t>
            </a:r>
            <a:endParaRPr lang="en-US" sz="628" dirty="0"/>
          </a:p>
        </p:txBody>
      </p:sp>
      <p:sp>
        <p:nvSpPr>
          <p:cNvPr id="25" name="Shape 19"/>
          <p:cNvSpPr/>
          <p:nvPr/>
        </p:nvSpPr>
        <p:spPr>
          <a:xfrm>
            <a:off x="2812293" y="3052111"/>
            <a:ext cx="883816" cy="173236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0"/>
          <p:cNvSpPr/>
          <p:nvPr/>
        </p:nvSpPr>
        <p:spPr>
          <a:xfrm>
            <a:off x="2812293" y="3052111"/>
            <a:ext cx="883816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Autenticación JWT</a:t>
            </a:r>
            <a:endParaRPr lang="en-US" sz="628" dirty="0"/>
          </a:p>
        </p:txBody>
      </p:sp>
      <p:sp>
        <p:nvSpPr>
          <p:cNvPr id="27" name="Shape 21"/>
          <p:cNvSpPr/>
          <p:nvPr/>
        </p:nvSpPr>
        <p:spPr>
          <a:xfrm>
            <a:off x="3803266" y="3052111"/>
            <a:ext cx="1152041" cy="173236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2"/>
          <p:cNvSpPr/>
          <p:nvPr/>
        </p:nvSpPr>
        <p:spPr>
          <a:xfrm>
            <a:off x="3803266" y="3052111"/>
            <a:ext cx="1152041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E74C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Procesamiento de Pagos</a:t>
            </a:r>
            <a:endParaRPr lang="en-US" sz="628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422" y="3521199"/>
            <a:ext cx="107156" cy="14287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28625" y="3817051"/>
            <a:ext cx="8286750" cy="887611"/>
          </a:xfrm>
          <a:prstGeom prst="rect">
            <a:avLst/>
          </a:prstGeom>
          <a:solidFill>
            <a:srgbClr val="3498DB">
              <a:alpha val="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Shape 24"/>
          <p:cNvSpPr/>
          <p:nvPr/>
        </p:nvSpPr>
        <p:spPr>
          <a:xfrm>
            <a:off x="428625" y="3817051"/>
            <a:ext cx="28575" cy="887611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797" y="4117981"/>
            <a:ext cx="250031" cy="2857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43000" y="3959926"/>
            <a:ext cx="74295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 de Datos</a:t>
            </a:r>
            <a:endParaRPr lang="en-US" sz="942" dirty="0"/>
          </a:p>
        </p:txBody>
      </p:sp>
      <p:sp>
        <p:nvSpPr>
          <p:cNvPr id="34" name="Text 26"/>
          <p:cNvSpPr/>
          <p:nvPr/>
        </p:nvSpPr>
        <p:spPr>
          <a:xfrm>
            <a:off x="1143000" y="4192098"/>
            <a:ext cx="74295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BDC3C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 de datos relacional que almacena toda la información del sistema de forma segura y eficiente, accedida a través del ORM de Django.</a:t>
            </a:r>
            <a:endParaRPr lang="en-US" sz="680" dirty="0"/>
          </a:p>
        </p:txBody>
      </p:sp>
      <p:sp>
        <p:nvSpPr>
          <p:cNvPr id="35" name="Shape 27"/>
          <p:cNvSpPr/>
          <p:nvPr/>
        </p:nvSpPr>
        <p:spPr>
          <a:xfrm>
            <a:off x="1143000" y="4388551"/>
            <a:ext cx="1166357" cy="173236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28"/>
          <p:cNvSpPr/>
          <p:nvPr/>
        </p:nvSpPr>
        <p:spPr>
          <a:xfrm>
            <a:off x="1143000" y="4388551"/>
            <a:ext cx="1166357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 de Datos Relacional</a:t>
            </a:r>
            <a:endParaRPr lang="en-US" sz="628" dirty="0"/>
          </a:p>
        </p:txBody>
      </p:sp>
      <p:sp>
        <p:nvSpPr>
          <p:cNvPr id="37" name="Shape 29"/>
          <p:cNvSpPr/>
          <p:nvPr/>
        </p:nvSpPr>
        <p:spPr>
          <a:xfrm>
            <a:off x="2416513" y="4388551"/>
            <a:ext cx="660155" cy="173236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0"/>
          <p:cNvSpPr/>
          <p:nvPr/>
        </p:nvSpPr>
        <p:spPr>
          <a:xfrm>
            <a:off x="2416513" y="4388551"/>
            <a:ext cx="660155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Django ORM</a:t>
            </a:r>
            <a:endParaRPr lang="en-US" sz="628" dirty="0"/>
          </a:p>
        </p:txBody>
      </p:sp>
      <p:sp>
        <p:nvSpPr>
          <p:cNvPr id="39" name="Shape 31"/>
          <p:cNvSpPr/>
          <p:nvPr/>
        </p:nvSpPr>
        <p:spPr>
          <a:xfrm>
            <a:off x="3183824" y="4388551"/>
            <a:ext cx="980926" cy="173236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2"/>
          <p:cNvSpPr/>
          <p:nvPr/>
        </p:nvSpPr>
        <p:spPr>
          <a:xfrm>
            <a:off x="3183824" y="4388551"/>
            <a:ext cx="980926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PostgreSQL / MySQL</a:t>
            </a:r>
            <a:endParaRPr lang="en-US" sz="628" dirty="0"/>
          </a:p>
        </p:txBody>
      </p:sp>
      <p:sp>
        <p:nvSpPr>
          <p:cNvPr id="41" name="Shape 33"/>
          <p:cNvSpPr/>
          <p:nvPr/>
        </p:nvSpPr>
        <p:spPr>
          <a:xfrm>
            <a:off x="4271907" y="4388551"/>
            <a:ext cx="1085878" cy="173236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4"/>
          <p:cNvSpPr/>
          <p:nvPr/>
        </p:nvSpPr>
        <p:spPr>
          <a:xfrm>
            <a:off x="4271907" y="4388551"/>
            <a:ext cx="1085878" cy="173236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ctr">
            <a:spAutoFit/>
          </a:bodyPr>
          <a:lstStyle/>
          <a:p>
            <a:pPr marL="0" indent="0">
              <a:buNone/>
            </a:pPr>
            <a:r>
              <a:rPr lang="en-US" sz="628" b="1" dirty="0">
                <a:solidFill>
                  <a:srgbClr val="F39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Seguridad y Integridad</a:t>
            </a:r>
            <a:endParaRPr lang="en-US" sz="62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25C1-D59D-3B8F-7A72-EA483BB7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9D7C3F1-BB27-8783-C39C-C8F9AD012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894059D-EFF5-E583-3811-B922877FDA37}"/>
              </a:ext>
            </a:extLst>
          </p:cNvPr>
          <p:cNvSpPr/>
          <p:nvPr/>
        </p:nvSpPr>
        <p:spPr>
          <a:xfrm>
            <a:off x="428625" y="446312"/>
            <a:ext cx="8286750" cy="405752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de BD E/R</a:t>
            </a:r>
            <a:endParaRPr lang="en-US" sz="1800" dirty="0"/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BD50CCF2-7C5B-620B-6CBF-0F42C7661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945" y="745794"/>
            <a:ext cx="6885945" cy="426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B1DEE-C19B-8C94-8EF2-4F0D91D9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85FA56D-6350-CAA3-7A53-DAF85D5F3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07C4018-A226-57A8-C5CA-35E34922D385}"/>
              </a:ext>
            </a:extLst>
          </p:cNvPr>
          <p:cNvSpPr/>
          <p:nvPr/>
        </p:nvSpPr>
        <p:spPr>
          <a:xfrm>
            <a:off x="2797803" y="2002738"/>
            <a:ext cx="8286750" cy="405752"/>
          </a:xfrm>
          <a:prstGeom prst="rect">
            <a:avLst/>
          </a:prstGeom>
          <a:noFill/>
          <a:ln/>
        </p:spPr>
        <p:txBody>
          <a:bodyPr wrap="square" lIns="0" tIns="0" rIns="0" bIns="127508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Demostración</a:t>
            </a:r>
            <a:r>
              <a:rPr lang="en-US" sz="1800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la </a:t>
            </a:r>
            <a:r>
              <a:rPr lang="en-US" sz="1800" b="1" dirty="0" err="1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solución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91866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813</Words>
  <Application>Microsoft Office PowerPoint</Application>
  <PresentationFormat>Presentación en pantalla (16:9)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Noto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gonzalezfelipe376@outlook.es</cp:lastModifiedBy>
  <cp:revision>2</cp:revision>
  <dcterms:created xsi:type="dcterms:W3CDTF">2025-10-21T12:45:30Z</dcterms:created>
  <dcterms:modified xsi:type="dcterms:W3CDTF">2025-10-21T13:14:45Z</dcterms:modified>
</cp:coreProperties>
</file>