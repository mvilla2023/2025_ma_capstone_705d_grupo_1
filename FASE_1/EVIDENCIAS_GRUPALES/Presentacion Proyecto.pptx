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2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8063" y="1428750"/>
            <a:ext cx="1428750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72525" y="1428750"/>
            <a:ext cx="14288" cy="1071563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4186238"/>
            <a:ext cx="2143125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720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7862" y="571500"/>
            <a:ext cx="674827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PROYECTO CAPSTONE MFY</a:t>
            </a:r>
            <a:endParaRPr lang="en-US" sz="4050" dirty="0"/>
          </a:p>
        </p:txBody>
      </p:sp>
      <p:sp>
        <p:nvSpPr>
          <p:cNvPr id="8" name="Shape 4"/>
          <p:cNvSpPr/>
          <p:nvPr/>
        </p:nvSpPr>
        <p:spPr>
          <a:xfrm>
            <a:off x="1872695" y="1600200"/>
            <a:ext cx="5398610" cy="28575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9" name="Text 5"/>
          <p:cNvSpPr/>
          <p:nvPr/>
        </p:nvSpPr>
        <p:spPr>
          <a:xfrm>
            <a:off x="2399770" y="1771650"/>
            <a:ext cx="434446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SOFTWARE DE DATOS DE UNA PYME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3930932" y="2843213"/>
            <a:ext cx="12821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Realizado por: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930932" y="3157538"/>
            <a:ext cx="12821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Martín Salas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930932" y="3443288"/>
            <a:ext cx="12821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Felipe González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930932" y="3729038"/>
            <a:ext cx="12821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Dylan Quiñones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96729" y="4471988"/>
            <a:ext cx="25505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Fecha: 2 de septiembre de 2025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296729" y="4729163"/>
            <a:ext cx="25505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Sección: 705D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8063" y="714375"/>
            <a:ext cx="1428750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72525" y="714375"/>
            <a:ext cx="14288" cy="1071563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4057650"/>
            <a:ext cx="2143125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 Y CONTEXTO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285750" y="800100"/>
            <a:ext cx="714375" cy="28575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8" name="Text 5"/>
          <p:cNvSpPr/>
          <p:nvPr/>
        </p:nvSpPr>
        <p:spPr>
          <a:xfrm>
            <a:off x="450056" y="916186"/>
            <a:ext cx="26060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Las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710664" y="916186"/>
            <a:ext cx="287237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pequeñas y medianas empresas (pymes)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3583037" y="916186"/>
            <a:ext cx="7002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enfrentan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450056" y="1144786"/>
            <a:ext cx="37043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dificultades para organizar y aprovechar la información 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450056" y="1373386"/>
            <a:ext cx="25567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generada por sus operaciones diarias. 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450056" y="1744861"/>
            <a:ext cx="1921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 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642240" y="1744861"/>
            <a:ext cx="2149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falta de un sistema de gestión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2791365" y="1744861"/>
            <a:ext cx="15263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limita la capacidad de: 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621506" y="2071688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Registrar adecuadamente las ventas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621506" y="2300288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Controlar clientes frecuentes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621506" y="2528888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Monitorear ganancias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621506" y="2757488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Personalizar servicios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450056" y="3145036"/>
            <a:ext cx="40053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impulsar la economía mediante el emprendimiento, es 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450056" y="3373636"/>
            <a:ext cx="143204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necesario incorporar 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1882099" y="3373636"/>
            <a:ext cx="190911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herramientas tecnológicas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3791210" y="3373636"/>
            <a:ext cx="45050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como: 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621506" y="3586163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Aplicaciones móviles</a:t>
            </a:r>
            <a:endParaRPr lang="en-US" sz="1046" dirty="0"/>
          </a:p>
        </p:txBody>
      </p:sp>
      <p:sp>
        <p:nvSpPr>
          <p:cNvPr id="25" name="Text 22"/>
          <p:cNvSpPr/>
          <p:nvPr/>
        </p:nvSpPr>
        <p:spPr>
          <a:xfrm>
            <a:off x="621506" y="3814763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Sitios web</a:t>
            </a:r>
            <a:endParaRPr lang="en-US" sz="1046" dirty="0"/>
          </a:p>
        </p:txBody>
      </p:sp>
      <p:sp>
        <p:nvSpPr>
          <p:cNvPr id="26" name="Text 23"/>
          <p:cNvSpPr/>
          <p:nvPr/>
        </p:nvSpPr>
        <p:spPr>
          <a:xfrm>
            <a:off x="621506" y="4043363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Soluciones de inteligencia de negocios</a:t>
            </a:r>
            <a:endParaRPr lang="en-US" sz="1046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285875"/>
            <a:ext cx="4171950" cy="27432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4686300" y="3714750"/>
            <a:ext cx="4171950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4772025" y="3800475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Caso de estudio: Barbería buscando optimizar sus procesos</a:t>
            </a:r>
            <a:endParaRPr lang="en-US" sz="7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8063" y="714375"/>
            <a:ext cx="1428750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72525" y="714375"/>
            <a:ext cx="14288" cy="1071563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4057650"/>
            <a:ext cx="2143125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CLIENTE Y USUARIO OBJETIVO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285750" y="800100"/>
            <a:ext cx="714375" cy="28575"/>
          </a:xfrm>
          <a:prstGeom prst="rect">
            <a:avLst/>
          </a:prstGeom>
          <a:solidFill>
            <a:srgbClr val="FF55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941189"/>
            <a:ext cx="176808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8295" y="910828"/>
            <a:ext cx="23503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Usuario Objetivo: La Barbería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414338" y="1171575"/>
            <a:ext cx="4043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 negocio y sus administradores necesitan: 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585788" y="1485900"/>
            <a:ext cx="38719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Gestión de clientes recurrentes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585788" y="1714500"/>
            <a:ext cx="38719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de servicios personalizados</a:t>
            </a:r>
            <a:endParaRPr lang="en-US" sz="1046" dirty="0"/>
          </a:p>
        </p:txBody>
      </p:sp>
      <p:sp>
        <p:nvSpPr>
          <p:cNvPr id="13" name="Text 9"/>
          <p:cNvSpPr/>
          <p:nvPr/>
        </p:nvSpPr>
        <p:spPr>
          <a:xfrm>
            <a:off x="585788" y="1943100"/>
            <a:ext cx="38719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de ganancias</a:t>
            </a:r>
            <a:endParaRPr lang="en-US" sz="1046" dirty="0"/>
          </a:p>
        </p:txBody>
      </p:sp>
      <p:sp>
        <p:nvSpPr>
          <p:cNvPr id="14" name="Text 10"/>
          <p:cNvSpPr/>
          <p:nvPr/>
        </p:nvSpPr>
        <p:spPr>
          <a:xfrm>
            <a:off x="585788" y="2171700"/>
            <a:ext cx="38719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Gestión de inventario de productos</a:t>
            </a:r>
            <a:endParaRPr lang="en-US" sz="1046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2555677"/>
            <a:ext cx="196453" cy="15716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941" y="2525316"/>
            <a:ext cx="23252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Cliente Objetivo: Los Clientes</a:t>
            </a:r>
            <a:endParaRPr lang="en-US" sz="1238" dirty="0"/>
          </a:p>
        </p:txBody>
      </p:sp>
      <p:sp>
        <p:nvSpPr>
          <p:cNvPr id="17" name="Text 12"/>
          <p:cNvSpPr/>
          <p:nvPr/>
        </p:nvSpPr>
        <p:spPr>
          <a:xfrm>
            <a:off x="414338" y="2786063"/>
            <a:ext cx="4043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Personas que buscan servicios de cuidado personal y valoran: </a:t>
            </a:r>
            <a:endParaRPr lang="en-US" sz="1046" dirty="0"/>
          </a:p>
        </p:txBody>
      </p:sp>
      <p:sp>
        <p:nvSpPr>
          <p:cNvPr id="18" name="Text 13"/>
          <p:cNvSpPr/>
          <p:nvPr/>
        </p:nvSpPr>
        <p:spPr>
          <a:xfrm>
            <a:off x="585788" y="3328988"/>
            <a:ext cx="38719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Calidad del servicio</a:t>
            </a:r>
            <a:endParaRPr lang="en-US" sz="1046" dirty="0"/>
          </a:p>
        </p:txBody>
      </p:sp>
      <p:sp>
        <p:nvSpPr>
          <p:cNvPr id="19" name="Text 14"/>
          <p:cNvSpPr/>
          <p:nvPr/>
        </p:nvSpPr>
        <p:spPr>
          <a:xfrm>
            <a:off x="585788" y="3557588"/>
            <a:ext cx="38719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Atención rápida</a:t>
            </a:r>
            <a:endParaRPr lang="en-US" sz="1046" dirty="0"/>
          </a:p>
        </p:txBody>
      </p:sp>
      <p:sp>
        <p:nvSpPr>
          <p:cNvPr id="20" name="Text 15"/>
          <p:cNvSpPr/>
          <p:nvPr/>
        </p:nvSpPr>
        <p:spPr>
          <a:xfrm>
            <a:off x="585788" y="3786188"/>
            <a:ext cx="38719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Promociones y beneficios</a:t>
            </a:r>
            <a:endParaRPr lang="en-US" sz="1046" dirty="0"/>
          </a:p>
        </p:txBody>
      </p:sp>
      <p:sp>
        <p:nvSpPr>
          <p:cNvPr id="21" name="Text 16"/>
          <p:cNvSpPr/>
          <p:nvPr/>
        </p:nvSpPr>
        <p:spPr>
          <a:xfrm>
            <a:off x="585788" y="4014788"/>
            <a:ext cx="38719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Comodidad a través de medios digitales</a:t>
            </a:r>
            <a:endParaRPr lang="en-US" sz="1046" dirty="0"/>
          </a:p>
        </p:txBody>
      </p:sp>
      <p:sp>
        <p:nvSpPr>
          <p:cNvPr id="22" name="Text 17"/>
          <p:cNvSpPr/>
          <p:nvPr/>
        </p:nvSpPr>
        <p:spPr>
          <a:xfrm>
            <a:off x="585788" y="4243388"/>
            <a:ext cx="38719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Recomendaciones personalizadas</a:t>
            </a:r>
            <a:endParaRPr lang="en-US" sz="1046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371600"/>
            <a:ext cx="4171950" cy="27432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686300" y="3800475"/>
            <a:ext cx="4171950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4772025" y="3886200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Ambiente moderno que atrae a clientes que valoran experiencias digitales</a:t>
            </a:r>
            <a:endParaRPr lang="en-US" sz="7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8063" y="714375"/>
            <a:ext cx="1428750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72525" y="714375"/>
            <a:ext cx="14288" cy="1071563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4057650"/>
            <a:ext cx="2143125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DESCRIPCIÓN FUNCIONAL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285750" y="800100"/>
            <a:ext cx="714375" cy="28575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8" name="Text 5"/>
          <p:cNvSpPr/>
          <p:nvPr/>
        </p:nvSpPr>
        <p:spPr>
          <a:xfrm>
            <a:off x="285750" y="916186"/>
            <a:ext cx="778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 proyecto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1064000" y="916186"/>
            <a:ext cx="140260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Made For You (MFY)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2466603" y="916186"/>
            <a:ext cx="177095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 relaciona directamente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85750" y="1144786"/>
            <a:ext cx="361404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 los procesos de negocio existentes en la barbería, 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285750" y="1373386"/>
            <a:ext cx="69311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buscando 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978861" y="1373386"/>
            <a:ext cx="15691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digitalizar y optimizar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548058" y="1373386"/>
            <a:ext cx="10825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actividades que 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285750" y="1601986"/>
            <a:ext cx="282365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actualmente se realizan de forma manual. 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285750" y="198596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Principales funcionalidades:</a:t>
            </a:r>
            <a:endParaRPr lang="en-US" sz="1046" dirty="0"/>
          </a:p>
        </p:txBody>
      </p:sp>
      <p:sp>
        <p:nvSpPr>
          <p:cNvPr id="17" name="Shape 14"/>
          <p:cNvSpPr/>
          <p:nvPr/>
        </p:nvSpPr>
        <p:spPr>
          <a:xfrm>
            <a:off x="285750" y="2328863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58" y="2407444"/>
            <a:ext cx="160734" cy="128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8656" y="2357438"/>
            <a:ext cx="206069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de clientes frecuentes</a:t>
            </a:r>
            <a:endParaRPr lang="en-US" sz="1046" dirty="0"/>
          </a:p>
        </p:txBody>
      </p:sp>
      <p:sp>
        <p:nvSpPr>
          <p:cNvPr id="20" name="Shape 16"/>
          <p:cNvSpPr/>
          <p:nvPr/>
        </p:nvSpPr>
        <p:spPr>
          <a:xfrm>
            <a:off x="285750" y="2721769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68" y="2800350"/>
            <a:ext cx="112514" cy="128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8656" y="2750344"/>
            <a:ext cx="10645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Gestión de citas</a:t>
            </a:r>
            <a:endParaRPr lang="en-US" sz="1046" dirty="0"/>
          </a:p>
        </p:txBody>
      </p:sp>
      <p:sp>
        <p:nvSpPr>
          <p:cNvPr id="23" name="Shape 18"/>
          <p:cNvSpPr/>
          <p:nvPr/>
        </p:nvSpPr>
        <p:spPr>
          <a:xfrm>
            <a:off x="285750" y="3114675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68" y="3193256"/>
            <a:ext cx="112514" cy="128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8656" y="3143250"/>
            <a:ext cx="141948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de inventario</a:t>
            </a:r>
            <a:endParaRPr lang="en-US" sz="1046" dirty="0"/>
          </a:p>
        </p:txBody>
      </p:sp>
      <p:sp>
        <p:nvSpPr>
          <p:cNvPr id="26" name="Shape 20"/>
          <p:cNvSpPr/>
          <p:nvPr/>
        </p:nvSpPr>
        <p:spPr>
          <a:xfrm>
            <a:off x="285750" y="3507581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31" y="3586163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8656" y="3536156"/>
            <a:ext cx="1842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Análisis de datos y reportes</a:t>
            </a:r>
            <a:endParaRPr lang="en-US" sz="1046" dirty="0"/>
          </a:p>
        </p:txBody>
      </p:sp>
      <p:sp>
        <p:nvSpPr>
          <p:cNvPr id="29" name="Shape 22"/>
          <p:cNvSpPr/>
          <p:nvPr/>
        </p:nvSpPr>
        <p:spPr>
          <a:xfrm>
            <a:off x="285750" y="3900488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405" y="3979069"/>
            <a:ext cx="96441" cy="1285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8656" y="3929063"/>
            <a:ext cx="17549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Acceso móvil para clientes</a:t>
            </a:r>
            <a:endParaRPr lang="en-US" sz="1046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1225153"/>
            <a:ext cx="4171950" cy="27432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4686300" y="3654028"/>
            <a:ext cx="4171950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4" name="Text 25"/>
          <p:cNvSpPr/>
          <p:nvPr/>
        </p:nvSpPr>
        <p:spPr>
          <a:xfrm>
            <a:off x="4772025" y="3739753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Interfaz digital para la gestión integral de la barbería</a:t>
            </a:r>
            <a:endParaRPr lang="en-US" sz="73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8063" y="714375"/>
            <a:ext cx="1428750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72525" y="714375"/>
            <a:ext cx="14288" cy="1071563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4057650"/>
            <a:ext cx="2143125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ARQUITECTURA PROPUESTA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285750" y="800100"/>
            <a:ext cx="714375" cy="28575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900113"/>
            <a:ext cx="357188" cy="357188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03" y="992981"/>
            <a:ext cx="192881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0094" y="960834"/>
            <a:ext cx="160008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 de arquitectura</a:t>
            </a:r>
            <a:endParaRPr lang="en-US" sz="1238" dirty="0"/>
          </a:p>
        </p:txBody>
      </p:sp>
      <p:sp>
        <p:nvSpPr>
          <p:cNvPr id="11" name="Text 7"/>
          <p:cNvSpPr/>
          <p:nvPr/>
        </p:nvSpPr>
        <p:spPr>
          <a:xfrm>
            <a:off x="750094" y="1409105"/>
            <a:ext cx="9721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Arquitectura de 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1722230" y="1409105"/>
            <a:ext cx="9264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microservicios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285750" y="1764506"/>
            <a:ext cx="357188" cy="357188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03" y="1857375"/>
            <a:ext cx="192881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0094" y="1825228"/>
            <a:ext cx="149463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Patrones de diseño</a:t>
            </a:r>
            <a:endParaRPr lang="en-US" sz="1238" dirty="0"/>
          </a:p>
        </p:txBody>
      </p:sp>
      <p:sp>
        <p:nvSpPr>
          <p:cNvPr id="16" name="Text 11"/>
          <p:cNvSpPr/>
          <p:nvPr/>
        </p:nvSpPr>
        <p:spPr>
          <a:xfrm>
            <a:off x="750094" y="2273498"/>
            <a:ext cx="13361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Gateway Pattern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285750" y="2628900"/>
            <a:ext cx="357188" cy="357188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721769"/>
            <a:ext cx="128588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0094" y="2689622"/>
            <a:ext cx="111210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APIs definidas</a:t>
            </a:r>
            <a:endParaRPr lang="en-US" sz="1238" dirty="0"/>
          </a:p>
        </p:txBody>
      </p:sp>
      <p:sp>
        <p:nvSpPr>
          <p:cNvPr id="20" name="Text 14"/>
          <p:cNvSpPr/>
          <p:nvPr/>
        </p:nvSpPr>
        <p:spPr>
          <a:xfrm>
            <a:off x="750094" y="3137892"/>
            <a:ext cx="8399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SVC Citas API</a:t>
            </a:r>
            <a:endParaRPr lang="en-US" sz="942" dirty="0"/>
          </a:p>
        </p:txBody>
      </p:sp>
      <p:sp>
        <p:nvSpPr>
          <p:cNvPr id="21" name="Text 15"/>
          <p:cNvSpPr/>
          <p:nvPr/>
        </p:nvSpPr>
        <p:spPr>
          <a:xfrm>
            <a:off x="1590042" y="3137892"/>
            <a:ext cx="5573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(Interna)</a:t>
            </a:r>
            <a:endParaRPr lang="en-US" sz="942" dirty="0"/>
          </a:p>
        </p:txBody>
      </p:sp>
      <p:sp>
        <p:nvSpPr>
          <p:cNvPr id="22" name="Text 16"/>
          <p:cNvSpPr/>
          <p:nvPr/>
        </p:nvSpPr>
        <p:spPr>
          <a:xfrm>
            <a:off x="750094" y="3330773"/>
            <a:ext cx="11562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Pasarela de Pagos</a:t>
            </a:r>
            <a:endParaRPr lang="en-US" sz="942" dirty="0"/>
          </a:p>
        </p:txBody>
      </p:sp>
      <p:sp>
        <p:nvSpPr>
          <p:cNvPr id="23" name="Text 17"/>
          <p:cNvSpPr/>
          <p:nvPr/>
        </p:nvSpPr>
        <p:spPr>
          <a:xfrm>
            <a:off x="1906377" y="3330773"/>
            <a:ext cx="13101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(Transbank - Externa)</a:t>
            </a:r>
            <a:endParaRPr lang="en-US" sz="942" dirty="0"/>
          </a:p>
        </p:txBody>
      </p:sp>
      <p:sp>
        <p:nvSpPr>
          <p:cNvPr id="24" name="Text 18"/>
          <p:cNvSpPr/>
          <p:nvPr/>
        </p:nvSpPr>
        <p:spPr>
          <a:xfrm>
            <a:off x="285750" y="3702248"/>
            <a:ext cx="25104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Esta arquitectura permite una mayor </a:t>
            </a:r>
            <a:endParaRPr lang="en-US" sz="1046" dirty="0"/>
          </a:p>
        </p:txBody>
      </p:sp>
      <p:sp>
        <p:nvSpPr>
          <p:cNvPr id="25" name="Text 19"/>
          <p:cNvSpPr/>
          <p:nvPr/>
        </p:nvSpPr>
        <p:spPr>
          <a:xfrm>
            <a:off x="2796220" y="3702248"/>
            <a:ext cx="93340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escalabilidad</a:t>
            </a:r>
            <a:endParaRPr lang="en-US" sz="1046" dirty="0"/>
          </a:p>
        </p:txBody>
      </p:sp>
      <p:sp>
        <p:nvSpPr>
          <p:cNvPr id="26" name="Text 20"/>
          <p:cNvSpPr/>
          <p:nvPr/>
        </p:nvSpPr>
        <p:spPr>
          <a:xfrm>
            <a:off x="3729624" y="3702248"/>
            <a:ext cx="383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046" dirty="0"/>
          </a:p>
        </p:txBody>
      </p:sp>
      <p:sp>
        <p:nvSpPr>
          <p:cNvPr id="27" name="Text 21"/>
          <p:cNvSpPr/>
          <p:nvPr/>
        </p:nvSpPr>
        <p:spPr>
          <a:xfrm>
            <a:off x="285750" y="3930848"/>
            <a:ext cx="10927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mantenibilidad</a:t>
            </a:r>
            <a:endParaRPr lang="en-US" sz="1046" dirty="0"/>
          </a:p>
        </p:txBody>
      </p:sp>
      <p:sp>
        <p:nvSpPr>
          <p:cNvPr id="28" name="Text 22"/>
          <p:cNvSpPr/>
          <p:nvPr/>
        </p:nvSpPr>
        <p:spPr>
          <a:xfrm>
            <a:off x="1378465" y="3930848"/>
            <a:ext cx="1471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 </a:t>
            </a:r>
            <a:endParaRPr lang="en-US" sz="1046" dirty="0"/>
          </a:p>
        </p:txBody>
      </p:sp>
      <p:sp>
        <p:nvSpPr>
          <p:cNvPr id="29" name="Text 23"/>
          <p:cNvSpPr/>
          <p:nvPr/>
        </p:nvSpPr>
        <p:spPr>
          <a:xfrm>
            <a:off x="1525637" y="3930848"/>
            <a:ext cx="7949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flexibilidad</a:t>
            </a:r>
            <a:endParaRPr lang="en-US" sz="1046" dirty="0"/>
          </a:p>
        </p:txBody>
      </p:sp>
      <p:sp>
        <p:nvSpPr>
          <p:cNvPr id="30" name="Text 24"/>
          <p:cNvSpPr/>
          <p:nvPr/>
        </p:nvSpPr>
        <p:spPr>
          <a:xfrm>
            <a:off x="2320603" y="3930848"/>
            <a:ext cx="139434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adaptarse a las </a:t>
            </a:r>
            <a:endParaRPr lang="en-US" sz="1046" dirty="0"/>
          </a:p>
        </p:txBody>
      </p:sp>
      <p:sp>
        <p:nvSpPr>
          <p:cNvPr id="31" name="Text 25"/>
          <p:cNvSpPr/>
          <p:nvPr/>
        </p:nvSpPr>
        <p:spPr>
          <a:xfrm>
            <a:off x="285750" y="4159448"/>
            <a:ext cx="249445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necesidades cambiantes del negocio. </a:t>
            </a:r>
            <a:endParaRPr lang="en-US" sz="1046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264444"/>
            <a:ext cx="4171950" cy="27432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4686300" y="3693319"/>
            <a:ext cx="4171950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4772025" y="3779044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Diagrama de arquitectura de microservicios propuesta</a:t>
            </a:r>
            <a:endParaRPr lang="en-US" sz="7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8063" y="714375"/>
            <a:ext cx="1428750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72525" y="714375"/>
            <a:ext cx="14288" cy="1071563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4057650"/>
            <a:ext cx="2143125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TECNOLOGÍAS A UTILIZAR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285750" y="800100"/>
            <a:ext cx="714375" cy="28575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900113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28" y="971550"/>
            <a:ext cx="178594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8656" y="914400"/>
            <a:ext cx="95840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LENGUAJES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85750" y="1257300"/>
            <a:ext cx="4171950" cy="671513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285750" y="1257300"/>
            <a:ext cx="21431" cy="671513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13" name="Text 9"/>
          <p:cNvSpPr/>
          <p:nvPr/>
        </p:nvSpPr>
        <p:spPr>
          <a:xfrm>
            <a:off x="392906" y="1380530"/>
            <a:ext cx="5092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1046" dirty="0"/>
          </a:p>
        </p:txBody>
      </p:sp>
      <p:sp>
        <p:nvSpPr>
          <p:cNvPr id="14" name="Text 10"/>
          <p:cNvSpPr/>
          <p:nvPr/>
        </p:nvSpPr>
        <p:spPr>
          <a:xfrm>
            <a:off x="902122" y="1380530"/>
            <a:ext cx="20897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el desarrollo del sitio web </a:t>
            </a:r>
            <a:endParaRPr lang="en-US" sz="1046" dirty="0"/>
          </a:p>
        </p:txBody>
      </p:sp>
      <p:sp>
        <p:nvSpPr>
          <p:cNvPr id="15" name="Text 11"/>
          <p:cNvSpPr/>
          <p:nvPr/>
        </p:nvSpPr>
        <p:spPr>
          <a:xfrm>
            <a:off x="392906" y="1609130"/>
            <a:ext cx="571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Angular</a:t>
            </a:r>
            <a:endParaRPr lang="en-US" sz="1046" dirty="0"/>
          </a:p>
        </p:txBody>
      </p:sp>
      <p:sp>
        <p:nvSpPr>
          <p:cNvPr id="16" name="Text 12"/>
          <p:cNvSpPr/>
          <p:nvPr/>
        </p:nvSpPr>
        <p:spPr>
          <a:xfrm>
            <a:off x="964406" y="1609130"/>
            <a:ext cx="16040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la aplicación móvil </a:t>
            </a:r>
            <a:endParaRPr lang="en-US" sz="1046" dirty="0"/>
          </a:p>
        </p:txBody>
      </p:sp>
      <p:sp>
        <p:nvSpPr>
          <p:cNvPr id="17" name="Shape 13"/>
          <p:cNvSpPr/>
          <p:nvPr/>
        </p:nvSpPr>
        <p:spPr>
          <a:xfrm>
            <a:off x="285750" y="2100263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8" y="2171700"/>
            <a:ext cx="142875" cy="1428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656" y="2114550"/>
            <a:ext cx="12053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285750" y="2457450"/>
            <a:ext cx="4171950" cy="671513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285750" y="2457450"/>
            <a:ext cx="21431" cy="671513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22" name="Text 17"/>
          <p:cNvSpPr/>
          <p:nvPr/>
        </p:nvSpPr>
        <p:spPr>
          <a:xfrm>
            <a:off x="392906" y="2580680"/>
            <a:ext cx="5083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Django</a:t>
            </a:r>
            <a:endParaRPr lang="en-US" sz="1046" dirty="0"/>
          </a:p>
        </p:txBody>
      </p:sp>
      <p:sp>
        <p:nvSpPr>
          <p:cNvPr id="23" name="Text 18"/>
          <p:cNvSpPr/>
          <p:nvPr/>
        </p:nvSpPr>
        <p:spPr>
          <a:xfrm>
            <a:off x="901257" y="2580680"/>
            <a:ext cx="191067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Framework web de Python </a:t>
            </a:r>
            <a:endParaRPr lang="en-US" sz="1046" dirty="0"/>
          </a:p>
        </p:txBody>
      </p:sp>
      <p:sp>
        <p:nvSpPr>
          <p:cNvPr id="24" name="Text 19"/>
          <p:cNvSpPr/>
          <p:nvPr/>
        </p:nvSpPr>
        <p:spPr>
          <a:xfrm>
            <a:off x="392906" y="2809280"/>
            <a:ext cx="3549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Ionic</a:t>
            </a:r>
            <a:endParaRPr lang="en-US" sz="1046" dirty="0"/>
          </a:p>
        </p:txBody>
      </p:sp>
      <p:sp>
        <p:nvSpPr>
          <p:cNvPr id="25" name="Text 20"/>
          <p:cNvSpPr/>
          <p:nvPr/>
        </p:nvSpPr>
        <p:spPr>
          <a:xfrm>
            <a:off x="747833" y="2809280"/>
            <a:ext cx="23341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Framework para desarrollo móvil </a:t>
            </a:r>
            <a:endParaRPr lang="en-US" sz="1046" dirty="0"/>
          </a:p>
        </p:txBody>
      </p:sp>
      <p:sp>
        <p:nvSpPr>
          <p:cNvPr id="26" name="Shape 21"/>
          <p:cNvSpPr/>
          <p:nvPr/>
        </p:nvSpPr>
        <p:spPr>
          <a:xfrm>
            <a:off x="285750" y="3300413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3371850"/>
            <a:ext cx="142875" cy="1428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8656" y="3314700"/>
            <a:ext cx="88057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LIBRERÍAS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285750" y="3657600"/>
            <a:ext cx="4171950" cy="900113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285750" y="3657600"/>
            <a:ext cx="21431" cy="900113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31" name="Text 25"/>
          <p:cNvSpPr/>
          <p:nvPr/>
        </p:nvSpPr>
        <p:spPr>
          <a:xfrm>
            <a:off x="392906" y="3780830"/>
            <a:ext cx="82354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Librerías de </a:t>
            </a:r>
            <a:endParaRPr lang="en-US" sz="1046" dirty="0"/>
          </a:p>
        </p:txBody>
      </p:sp>
      <p:sp>
        <p:nvSpPr>
          <p:cNvPr id="32" name="Text 26"/>
          <p:cNvSpPr/>
          <p:nvPr/>
        </p:nvSpPr>
        <p:spPr>
          <a:xfrm>
            <a:off x="1216447" y="3780830"/>
            <a:ext cx="7153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seguridad</a:t>
            </a:r>
            <a:endParaRPr lang="en-US" sz="1046" dirty="0"/>
          </a:p>
        </p:txBody>
      </p:sp>
      <p:sp>
        <p:nvSpPr>
          <p:cNvPr id="33" name="Text 27"/>
          <p:cNvSpPr/>
          <p:nvPr/>
        </p:nvSpPr>
        <p:spPr>
          <a:xfrm>
            <a:off x="392906" y="4009430"/>
            <a:ext cx="82354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Librerías de </a:t>
            </a:r>
            <a:endParaRPr lang="en-US" sz="1046" dirty="0"/>
          </a:p>
        </p:txBody>
      </p:sp>
      <p:sp>
        <p:nvSpPr>
          <p:cNvPr id="34" name="Text 28"/>
          <p:cNvSpPr/>
          <p:nvPr/>
        </p:nvSpPr>
        <p:spPr>
          <a:xfrm>
            <a:off x="1216447" y="4009430"/>
            <a:ext cx="10081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conexión a BD</a:t>
            </a:r>
            <a:endParaRPr lang="en-US" sz="1046" dirty="0"/>
          </a:p>
        </p:txBody>
      </p:sp>
      <p:sp>
        <p:nvSpPr>
          <p:cNvPr id="35" name="Text 29"/>
          <p:cNvSpPr/>
          <p:nvPr/>
        </p:nvSpPr>
        <p:spPr>
          <a:xfrm>
            <a:off x="392906" y="4238030"/>
            <a:ext cx="82354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Librerías de </a:t>
            </a:r>
            <a:endParaRPr lang="en-US" sz="1046" dirty="0"/>
          </a:p>
        </p:txBody>
      </p:sp>
      <p:sp>
        <p:nvSpPr>
          <p:cNvPr id="36" name="Text 30"/>
          <p:cNvSpPr/>
          <p:nvPr/>
        </p:nvSpPr>
        <p:spPr>
          <a:xfrm>
            <a:off x="1216447" y="4238030"/>
            <a:ext cx="1636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UI</a:t>
            </a:r>
            <a:endParaRPr lang="en-US" sz="1046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443038"/>
            <a:ext cx="4171950" cy="274320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4686300" y="3871913"/>
            <a:ext cx="4171950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4772025" y="3957638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Orquestación de microservicios para el proyecto MFY</a:t>
            </a:r>
            <a:endParaRPr lang="en-US" sz="7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292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8063" y="714375"/>
            <a:ext cx="1428750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72525" y="714375"/>
            <a:ext cx="14288" cy="1071563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4543425"/>
            <a:ext cx="2143125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REQUERIMIENTOS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285750" y="800100"/>
            <a:ext cx="714375" cy="28575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900113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28" y="971550"/>
            <a:ext cx="178594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8656" y="914400"/>
            <a:ext cx="122057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FUNCIONALES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85750" y="1257300"/>
            <a:ext cx="4171950" cy="1857375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285750" y="1257300"/>
            <a:ext cx="21431" cy="1857375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13" name="Text 9"/>
          <p:cNvSpPr/>
          <p:nvPr/>
        </p:nvSpPr>
        <p:spPr>
          <a:xfrm>
            <a:off x="392906" y="1364456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28833" y="1378744"/>
            <a:ext cx="17373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e inicio de sesión</a:t>
            </a:r>
            <a:endParaRPr lang="en-US" sz="1046" dirty="0"/>
          </a:p>
        </p:txBody>
      </p:sp>
      <p:sp>
        <p:nvSpPr>
          <p:cNvPr id="15" name="Text 11"/>
          <p:cNvSpPr/>
          <p:nvPr/>
        </p:nvSpPr>
        <p:spPr>
          <a:xfrm>
            <a:off x="392906" y="1693069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28833" y="1707356"/>
            <a:ext cx="9174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Autenticación</a:t>
            </a:r>
            <a:endParaRPr lang="en-US" sz="1046" dirty="0"/>
          </a:p>
        </p:txBody>
      </p:sp>
      <p:sp>
        <p:nvSpPr>
          <p:cNvPr id="17" name="Text 13"/>
          <p:cNvSpPr/>
          <p:nvPr/>
        </p:nvSpPr>
        <p:spPr>
          <a:xfrm>
            <a:off x="392906" y="2021681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28833" y="2035969"/>
            <a:ext cx="10824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Aplicación móvil</a:t>
            </a:r>
            <a:endParaRPr lang="en-US" sz="1046" dirty="0"/>
          </a:p>
        </p:txBody>
      </p:sp>
      <p:sp>
        <p:nvSpPr>
          <p:cNvPr id="19" name="Text 15"/>
          <p:cNvSpPr/>
          <p:nvPr/>
        </p:nvSpPr>
        <p:spPr>
          <a:xfrm>
            <a:off x="392906" y="2350294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28833" y="2364581"/>
            <a:ext cx="11147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de pago</a:t>
            </a:r>
            <a:endParaRPr lang="en-US" sz="1046" dirty="0"/>
          </a:p>
        </p:txBody>
      </p:sp>
      <p:sp>
        <p:nvSpPr>
          <p:cNvPr id="21" name="Text 17"/>
          <p:cNvSpPr/>
          <p:nvPr/>
        </p:nvSpPr>
        <p:spPr>
          <a:xfrm>
            <a:off x="392906" y="2678906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528833" y="2693194"/>
            <a:ext cx="11740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de datos</a:t>
            </a:r>
            <a:endParaRPr lang="en-US" sz="1046" dirty="0"/>
          </a:p>
        </p:txBody>
      </p:sp>
      <p:sp>
        <p:nvSpPr>
          <p:cNvPr id="23" name="Shape 19"/>
          <p:cNvSpPr/>
          <p:nvPr/>
        </p:nvSpPr>
        <p:spPr>
          <a:xfrm>
            <a:off x="285750" y="3286125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8" y="3357563"/>
            <a:ext cx="142875" cy="14287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8656" y="3300413"/>
            <a:ext cx="15410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FUNCIONALES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285750" y="3643313"/>
            <a:ext cx="4171950" cy="1528763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285750" y="3643313"/>
            <a:ext cx="21431" cy="1528763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28" name="Text 23"/>
          <p:cNvSpPr/>
          <p:nvPr/>
        </p:nvSpPr>
        <p:spPr>
          <a:xfrm>
            <a:off x="392906" y="3750469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528833" y="3764756"/>
            <a:ext cx="12142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Buen rendimiento</a:t>
            </a:r>
            <a:endParaRPr lang="en-US" sz="1046" dirty="0"/>
          </a:p>
        </p:txBody>
      </p:sp>
      <p:sp>
        <p:nvSpPr>
          <p:cNvPr id="30" name="Text 25"/>
          <p:cNvSpPr/>
          <p:nvPr/>
        </p:nvSpPr>
        <p:spPr>
          <a:xfrm>
            <a:off x="392906" y="4079081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528833" y="4093369"/>
            <a:ext cx="1051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Diseño intuitivo</a:t>
            </a:r>
            <a:endParaRPr lang="en-US" sz="1046" dirty="0"/>
          </a:p>
        </p:txBody>
      </p:sp>
      <p:sp>
        <p:nvSpPr>
          <p:cNvPr id="32" name="Text 27"/>
          <p:cNvSpPr/>
          <p:nvPr/>
        </p:nvSpPr>
        <p:spPr>
          <a:xfrm>
            <a:off x="392906" y="4407694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528833" y="4421981"/>
            <a:ext cx="1304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Seguridad de datos</a:t>
            </a:r>
            <a:endParaRPr lang="en-US" sz="1046" dirty="0"/>
          </a:p>
        </p:txBody>
      </p:sp>
      <p:sp>
        <p:nvSpPr>
          <p:cNvPr id="34" name="Text 29"/>
          <p:cNvSpPr/>
          <p:nvPr/>
        </p:nvSpPr>
        <p:spPr>
          <a:xfrm>
            <a:off x="392906" y="4736306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528833" y="4750594"/>
            <a:ext cx="8679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Escalabilidad</a:t>
            </a:r>
            <a:endParaRPr lang="en-US" sz="1046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750219"/>
            <a:ext cx="4171950" cy="274320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4686300" y="4179094"/>
            <a:ext cx="4171950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4772025" y="4264819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Representación visual de los requerimientos del sistema</a:t>
            </a: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8063" y="714375"/>
            <a:ext cx="1428750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72525" y="714375"/>
            <a:ext cx="14288" cy="1071563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4629150"/>
            <a:ext cx="2143125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INTEGRACIONES CON OTROS SISTEMAS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285750" y="800100"/>
            <a:ext cx="714375" cy="28575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900113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17" y="971550"/>
            <a:ext cx="125016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8656" y="914400"/>
            <a:ext cx="175479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SISTEMAS INTERNOS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85750" y="1257300"/>
            <a:ext cx="4171950" cy="871538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285750" y="1257300"/>
            <a:ext cx="21431" cy="871538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13" name="Text 9"/>
          <p:cNvSpPr/>
          <p:nvPr/>
        </p:nvSpPr>
        <p:spPr>
          <a:xfrm>
            <a:off x="392906" y="1364456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28833" y="1378744"/>
            <a:ext cx="15876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 de datos existente</a:t>
            </a:r>
            <a:endParaRPr lang="en-US" sz="1046" dirty="0"/>
          </a:p>
        </p:txBody>
      </p:sp>
      <p:sp>
        <p:nvSpPr>
          <p:cNvPr id="15" name="Text 11"/>
          <p:cNvSpPr/>
          <p:nvPr/>
        </p:nvSpPr>
        <p:spPr>
          <a:xfrm>
            <a:off x="392906" y="1693069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28833" y="1707356"/>
            <a:ext cx="12518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Sistemas ERP/CRM</a:t>
            </a:r>
            <a:endParaRPr lang="en-US" sz="1046" dirty="0"/>
          </a:p>
        </p:txBody>
      </p:sp>
      <p:sp>
        <p:nvSpPr>
          <p:cNvPr id="17" name="Shape 13"/>
          <p:cNvSpPr/>
          <p:nvPr/>
        </p:nvSpPr>
        <p:spPr>
          <a:xfrm>
            <a:off x="285750" y="2300288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7" y="2371725"/>
            <a:ext cx="107156" cy="1428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656" y="2314575"/>
            <a:ext cx="129343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APIs EXTERNAS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285750" y="2657475"/>
            <a:ext cx="4171950" cy="1200150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285750" y="2657475"/>
            <a:ext cx="21431" cy="120015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22" name="Text 17"/>
          <p:cNvSpPr/>
          <p:nvPr/>
        </p:nvSpPr>
        <p:spPr>
          <a:xfrm>
            <a:off x="392906" y="2764631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28833" y="2778919"/>
            <a:ext cx="19748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Pasarela de pago (Transbank)</a:t>
            </a:r>
            <a:endParaRPr lang="en-US" sz="1046" dirty="0"/>
          </a:p>
        </p:txBody>
      </p:sp>
      <p:sp>
        <p:nvSpPr>
          <p:cNvPr id="24" name="Text 19"/>
          <p:cNvSpPr/>
          <p:nvPr/>
        </p:nvSpPr>
        <p:spPr>
          <a:xfrm>
            <a:off x="392906" y="3093244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528833" y="3107531"/>
            <a:ext cx="9174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Autenticación</a:t>
            </a:r>
            <a:endParaRPr lang="en-US" sz="1046" dirty="0"/>
          </a:p>
        </p:txBody>
      </p:sp>
      <p:sp>
        <p:nvSpPr>
          <p:cNvPr id="26" name="Text 21"/>
          <p:cNvSpPr/>
          <p:nvPr/>
        </p:nvSpPr>
        <p:spPr>
          <a:xfrm>
            <a:off x="392906" y="3421856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528833" y="3436144"/>
            <a:ext cx="25629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Notificaciones (SMS, WhatsApp, Email)</a:t>
            </a:r>
            <a:endParaRPr lang="en-US" sz="1046" dirty="0"/>
          </a:p>
        </p:txBody>
      </p:sp>
      <p:sp>
        <p:nvSpPr>
          <p:cNvPr id="28" name="Shape 23"/>
          <p:cNvSpPr/>
          <p:nvPr/>
        </p:nvSpPr>
        <p:spPr>
          <a:xfrm>
            <a:off x="285750" y="4029075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4100513"/>
            <a:ext cx="142875" cy="14287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8656" y="4043363"/>
            <a:ext cx="115112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PROTOCOLOS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285750" y="4386263"/>
            <a:ext cx="4171950" cy="871538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285750" y="4386263"/>
            <a:ext cx="21431" cy="871538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33" name="Text 27"/>
          <p:cNvSpPr/>
          <p:nvPr/>
        </p:nvSpPr>
        <p:spPr>
          <a:xfrm>
            <a:off x="392906" y="4493419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528833" y="4523780"/>
            <a:ext cx="6168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REST</a:t>
            </a:r>
            <a:endParaRPr lang="en-US" sz="1046" dirty="0"/>
          </a:p>
        </p:txBody>
      </p:sp>
      <p:sp>
        <p:nvSpPr>
          <p:cNvPr id="35" name="Text 29"/>
          <p:cNvSpPr/>
          <p:nvPr/>
        </p:nvSpPr>
        <p:spPr>
          <a:xfrm>
            <a:off x="1145651" y="4523780"/>
            <a:ext cx="19365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comunicación web/app</a:t>
            </a:r>
            <a:endParaRPr lang="en-US" sz="1046" dirty="0"/>
          </a:p>
        </p:txBody>
      </p:sp>
      <p:sp>
        <p:nvSpPr>
          <p:cNvPr id="36" name="Text 30"/>
          <p:cNvSpPr/>
          <p:nvPr/>
        </p:nvSpPr>
        <p:spPr>
          <a:xfrm>
            <a:off x="392906" y="4822031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528833" y="4852392"/>
            <a:ext cx="3654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gRPC</a:t>
            </a:r>
            <a:endParaRPr lang="en-US" sz="1046" dirty="0"/>
          </a:p>
        </p:txBody>
      </p:sp>
      <p:sp>
        <p:nvSpPr>
          <p:cNvPr id="38" name="Text 32"/>
          <p:cNvSpPr/>
          <p:nvPr/>
        </p:nvSpPr>
        <p:spPr>
          <a:xfrm>
            <a:off x="894308" y="4852392"/>
            <a:ext cx="25697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consultas rápidas entre módulos</a:t>
            </a:r>
            <a:endParaRPr lang="en-US" sz="1046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793081"/>
            <a:ext cx="4171950" cy="27432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4686300" y="4221956"/>
            <a:ext cx="4171950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1" name="Text 34"/>
          <p:cNvSpPr/>
          <p:nvPr/>
        </p:nvSpPr>
        <p:spPr>
          <a:xfrm>
            <a:off x="4772025" y="4307681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Diagrama de integraciones del sistema MFY</a:t>
            </a:r>
            <a:endParaRPr lang="en-US" sz="7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436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8063" y="714375"/>
            <a:ext cx="1428750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72525" y="714375"/>
            <a:ext cx="14288" cy="1071563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4957763"/>
            <a:ext cx="2143125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SEGURIDAD Y CUMPLIMIENTO NORMATIVO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285750" y="800100"/>
            <a:ext cx="714375" cy="28575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900113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17" y="971550"/>
            <a:ext cx="125016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8656" y="914400"/>
            <a:ext cx="294654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AUTENTICACIÓN Y AUTORIZACIÓN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85750" y="1257300"/>
            <a:ext cx="4171950" cy="1200150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285750" y="1257300"/>
            <a:ext cx="21431" cy="120015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13" name="Text 9"/>
          <p:cNvSpPr/>
          <p:nvPr/>
        </p:nvSpPr>
        <p:spPr>
          <a:xfrm>
            <a:off x="392906" y="1364456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28833" y="1378744"/>
            <a:ext cx="19499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Credenciales seguras básicas</a:t>
            </a:r>
            <a:endParaRPr lang="en-US" sz="1046" dirty="0"/>
          </a:p>
        </p:txBody>
      </p:sp>
      <p:sp>
        <p:nvSpPr>
          <p:cNvPr id="15" name="Text 11"/>
          <p:cNvSpPr/>
          <p:nvPr/>
        </p:nvSpPr>
        <p:spPr>
          <a:xfrm>
            <a:off x="392906" y="1693069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28833" y="1707356"/>
            <a:ext cx="22913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de acceso basado en roles</a:t>
            </a:r>
            <a:endParaRPr lang="en-US" sz="1046" dirty="0"/>
          </a:p>
        </p:txBody>
      </p:sp>
      <p:sp>
        <p:nvSpPr>
          <p:cNvPr id="17" name="Text 13"/>
          <p:cNvSpPr/>
          <p:nvPr/>
        </p:nvSpPr>
        <p:spPr>
          <a:xfrm>
            <a:off x="392906" y="2021681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28833" y="2052042"/>
            <a:ext cx="5409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OAuth2</a:t>
            </a:r>
            <a:endParaRPr lang="en-US" sz="1046" dirty="0"/>
          </a:p>
        </p:txBody>
      </p:sp>
      <p:sp>
        <p:nvSpPr>
          <p:cNvPr id="19" name="Text 15"/>
          <p:cNvSpPr/>
          <p:nvPr/>
        </p:nvSpPr>
        <p:spPr>
          <a:xfrm>
            <a:off x="1069777" y="2052042"/>
            <a:ext cx="14187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acceso limitado</a:t>
            </a:r>
            <a:endParaRPr lang="en-US" sz="1046" dirty="0"/>
          </a:p>
        </p:txBody>
      </p:sp>
      <p:sp>
        <p:nvSpPr>
          <p:cNvPr id="20" name="Shape 16"/>
          <p:cNvSpPr/>
          <p:nvPr/>
        </p:nvSpPr>
        <p:spPr>
          <a:xfrm>
            <a:off x="285750" y="2628900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8" y="2700338"/>
            <a:ext cx="142875" cy="1428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8656" y="2643188"/>
            <a:ext cx="12860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ENCRIPTACIÓN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285750" y="2986088"/>
            <a:ext cx="4171950" cy="871538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285750" y="2986088"/>
            <a:ext cx="21431" cy="871538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25" name="Text 20"/>
          <p:cNvSpPr/>
          <p:nvPr/>
        </p:nvSpPr>
        <p:spPr>
          <a:xfrm>
            <a:off x="392906" y="3093244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28833" y="3123605"/>
            <a:ext cx="74724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HTTPS/TLS</a:t>
            </a:r>
            <a:endParaRPr lang="en-US" sz="1046" dirty="0"/>
          </a:p>
        </p:txBody>
      </p:sp>
      <p:sp>
        <p:nvSpPr>
          <p:cNvPr id="27" name="Text 22"/>
          <p:cNvSpPr/>
          <p:nvPr/>
        </p:nvSpPr>
        <p:spPr>
          <a:xfrm>
            <a:off x="1276080" y="3123605"/>
            <a:ext cx="14586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comunicaciones</a:t>
            </a:r>
            <a:endParaRPr lang="en-US" sz="1046" dirty="0"/>
          </a:p>
        </p:txBody>
      </p:sp>
      <p:sp>
        <p:nvSpPr>
          <p:cNvPr id="28" name="Text 23"/>
          <p:cNvSpPr/>
          <p:nvPr/>
        </p:nvSpPr>
        <p:spPr>
          <a:xfrm>
            <a:off x="392906" y="3421856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528833" y="3436144"/>
            <a:ext cx="28076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Encriptación en reposo para datos críticos</a:t>
            </a:r>
            <a:endParaRPr lang="en-US" sz="1046" dirty="0"/>
          </a:p>
        </p:txBody>
      </p:sp>
      <p:sp>
        <p:nvSpPr>
          <p:cNvPr id="30" name="Shape 25"/>
          <p:cNvSpPr/>
          <p:nvPr/>
        </p:nvSpPr>
        <p:spPr>
          <a:xfrm>
            <a:off x="285750" y="4029075"/>
            <a:ext cx="285750" cy="285750"/>
          </a:xfrm>
          <a:prstGeom prst="ellipse">
            <a:avLst/>
          </a:prstGeom>
          <a:solidFill>
            <a:srgbClr val="FF550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47" y="4100513"/>
            <a:ext cx="107156" cy="14287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8656" y="4043363"/>
            <a:ext cx="24815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CUMPLIMIENTO NORMATIVO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285750" y="4386263"/>
            <a:ext cx="4171950" cy="1200150"/>
          </a:xfrm>
          <a:prstGeom prst="rect">
            <a:avLst/>
          </a:prstGeom>
          <a:solidFill>
            <a:srgbClr val="FF5500">
              <a:alpha val="10000"/>
            </a:srgbClr>
          </a:solidFill>
          <a:ln/>
        </p:spPr>
      </p:sp>
      <p:sp>
        <p:nvSpPr>
          <p:cNvPr id="34" name="Shape 28"/>
          <p:cNvSpPr/>
          <p:nvPr/>
        </p:nvSpPr>
        <p:spPr>
          <a:xfrm>
            <a:off x="285750" y="4386263"/>
            <a:ext cx="21431" cy="120015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35" name="Text 29"/>
          <p:cNvSpPr/>
          <p:nvPr/>
        </p:nvSpPr>
        <p:spPr>
          <a:xfrm>
            <a:off x="392906" y="4493419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528833" y="4507706"/>
            <a:ext cx="2100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Protección de datos personales</a:t>
            </a:r>
            <a:endParaRPr lang="en-US" sz="1046" dirty="0"/>
          </a:p>
        </p:txBody>
      </p:sp>
      <p:sp>
        <p:nvSpPr>
          <p:cNvPr id="37" name="Text 31"/>
          <p:cNvSpPr/>
          <p:nvPr/>
        </p:nvSpPr>
        <p:spPr>
          <a:xfrm>
            <a:off x="392906" y="4822031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528833" y="4852392"/>
            <a:ext cx="5366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PCI DSS</a:t>
            </a:r>
            <a:endParaRPr lang="en-US" sz="1046" dirty="0"/>
          </a:p>
        </p:txBody>
      </p:sp>
      <p:sp>
        <p:nvSpPr>
          <p:cNvPr id="39" name="Text 33"/>
          <p:cNvSpPr/>
          <p:nvPr/>
        </p:nvSpPr>
        <p:spPr>
          <a:xfrm>
            <a:off x="1065479" y="4852392"/>
            <a:ext cx="13627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pagos seguros</a:t>
            </a:r>
            <a:endParaRPr lang="en-US" sz="1046" dirty="0"/>
          </a:p>
        </p:txBody>
      </p:sp>
      <p:sp>
        <p:nvSpPr>
          <p:cNvPr id="40" name="Text 34"/>
          <p:cNvSpPr/>
          <p:nvPr/>
        </p:nvSpPr>
        <p:spPr>
          <a:xfrm>
            <a:off x="392906" y="5150644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41" name="Text 35"/>
          <p:cNvSpPr/>
          <p:nvPr/>
        </p:nvSpPr>
        <p:spPr>
          <a:xfrm>
            <a:off x="528833" y="5181005"/>
            <a:ext cx="65666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ISO27001</a:t>
            </a:r>
            <a:endParaRPr lang="en-US" sz="1046" dirty="0"/>
          </a:p>
        </p:txBody>
      </p:sp>
      <p:sp>
        <p:nvSpPr>
          <p:cNvPr id="42" name="Text 36"/>
          <p:cNvSpPr/>
          <p:nvPr/>
        </p:nvSpPr>
        <p:spPr>
          <a:xfrm>
            <a:off x="1185500" y="5181005"/>
            <a:ext cx="17983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gestión de seguridad</a:t>
            </a:r>
            <a:endParaRPr lang="en-US" sz="1046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957388"/>
            <a:ext cx="4171950" cy="274320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4686300" y="4386263"/>
            <a:ext cx="4171950" cy="31432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5" name="Text 38"/>
          <p:cNvSpPr/>
          <p:nvPr/>
        </p:nvSpPr>
        <p:spPr>
          <a:xfrm>
            <a:off x="4772025" y="4471988"/>
            <a:ext cx="4000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Elementos de seguridad implementados en el sistema MFY</a:t>
            </a:r>
            <a:endParaRPr lang="en-US" sz="7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8063" y="1428750"/>
            <a:ext cx="1428750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772525" y="1428750"/>
            <a:ext cx="14288" cy="1071563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4057650"/>
            <a:ext cx="2143125" cy="14288"/>
          </a:xfrm>
          <a:prstGeom prst="rect">
            <a:avLst/>
          </a:prstGeom>
          <a:solidFill>
            <a:srgbClr val="FF5500">
              <a:alpha val="3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60728" y="746522"/>
            <a:ext cx="222251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FF55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GRACIAS</a:t>
            </a:r>
            <a:endParaRPr lang="en-US" sz="4050" dirty="0"/>
          </a:p>
        </p:txBody>
      </p:sp>
      <p:sp>
        <p:nvSpPr>
          <p:cNvPr id="8" name="Shape 4"/>
          <p:cNvSpPr/>
          <p:nvPr/>
        </p:nvSpPr>
        <p:spPr>
          <a:xfrm>
            <a:off x="3857597" y="1718072"/>
            <a:ext cx="1428750" cy="28575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9" name="Text 5"/>
          <p:cNvSpPr/>
          <p:nvPr/>
        </p:nvSpPr>
        <p:spPr>
          <a:xfrm>
            <a:off x="3632653" y="2032397"/>
            <a:ext cx="187866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 su atención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3930932" y="2946797"/>
            <a:ext cx="12821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Martín Salas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930932" y="3275409"/>
            <a:ext cx="12821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Felipe González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930932" y="3604022"/>
            <a:ext cx="12821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Dylan Quiñones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730754" y="3968353"/>
            <a:ext cx="36824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Proyecto Capstone MFY - Software de Datos para PYME</a:t>
            </a:r>
            <a:endParaRPr lang="en-US" sz="1046" dirty="0"/>
          </a:p>
        </p:txBody>
      </p:sp>
      <p:sp>
        <p:nvSpPr>
          <p:cNvPr id="14" name="Text 10"/>
          <p:cNvSpPr/>
          <p:nvPr/>
        </p:nvSpPr>
        <p:spPr>
          <a:xfrm>
            <a:off x="2730754" y="4182666"/>
            <a:ext cx="36824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Sección: 705D - Septiembre 2025</a:t>
            </a:r>
            <a:endParaRPr lang="en-US" sz="10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2025-09-15T21:04:57Z</dcterms:created>
  <dcterms:modified xsi:type="dcterms:W3CDTF">2025-09-15T21:04:57Z</dcterms:modified>
</cp:coreProperties>
</file>