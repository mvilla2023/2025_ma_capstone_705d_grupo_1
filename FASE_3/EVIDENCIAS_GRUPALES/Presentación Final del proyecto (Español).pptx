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17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875" y="626864"/>
            <a:ext cx="285750" cy="28575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4238030"/>
            <a:ext cx="285750" cy="2857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3068603" y="1402156"/>
            <a:ext cx="3006793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kern="0" spc="-1" dirty="0">
                <a:solidFill>
                  <a:srgbClr val="1A1A1A"/>
                </a:solidFill>
              </a:rPr>
              <a:t>Proyecto MFY</a:t>
            </a:r>
            <a:endParaRPr lang="en-US" sz="3294" dirty="0"/>
          </a:p>
        </p:txBody>
      </p:sp>
      <p:sp>
        <p:nvSpPr>
          <p:cNvPr id="7" name="Text 1"/>
          <p:cNvSpPr/>
          <p:nvPr/>
        </p:nvSpPr>
        <p:spPr>
          <a:xfrm>
            <a:off x="3563710" y="2168323"/>
            <a:ext cx="2016578" cy="233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6" kern="0" spc="2" dirty="0">
                <a:solidFill>
                  <a:srgbClr val="C41E3A"/>
                </a:solidFill>
              </a:rPr>
              <a:t>Caso Barbería BlackStudio</a:t>
            </a:r>
            <a:endParaRPr lang="en-US" sz="1486" dirty="0"/>
          </a:p>
        </p:txBody>
      </p:sp>
      <p:sp>
        <p:nvSpPr>
          <p:cNvPr id="8" name="Text 2"/>
          <p:cNvSpPr/>
          <p:nvPr/>
        </p:nvSpPr>
        <p:spPr>
          <a:xfrm>
            <a:off x="3068603" y="3098797"/>
            <a:ext cx="30067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2" dirty="0">
                <a:solidFill>
                  <a:srgbClr val="2C2C2C"/>
                </a:solidFill>
              </a:rPr>
              <a:t>Integrantes</a:t>
            </a:r>
            <a:endParaRPr lang="en-US" sz="683" dirty="0"/>
          </a:p>
        </p:txBody>
      </p:sp>
      <p:sp>
        <p:nvSpPr>
          <p:cNvPr id="9" name="Text 3"/>
          <p:cNvSpPr/>
          <p:nvPr/>
        </p:nvSpPr>
        <p:spPr>
          <a:xfrm>
            <a:off x="3068603" y="3341684"/>
            <a:ext cx="3006793" cy="694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942" dirty="0">
                <a:solidFill>
                  <a:srgbClr val="2C2C2C"/>
                </a:solidFill>
              </a:rPr>
              <a:t>Felipe González
 Martín Salas
 Dylan Quiñones</a:t>
            </a:r>
            <a:endParaRPr lang="en-US" sz="942" dirty="0"/>
          </a:p>
        </p:txBody>
      </p:sp>
      <p:sp>
        <p:nvSpPr>
          <p:cNvPr id="10" name="Text 4"/>
          <p:cNvSpPr/>
          <p:nvPr/>
        </p:nvSpPr>
        <p:spPr>
          <a:xfrm>
            <a:off x="3068603" y="4392552"/>
            <a:ext cx="300679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kern="0" spc="2" dirty="0">
                <a:solidFill>
                  <a:srgbClr val="C41E3A"/>
                </a:solidFill>
              </a:rPr>
              <a:t>Profesor</a:t>
            </a:r>
            <a:endParaRPr lang="en-US" sz="584" dirty="0"/>
          </a:p>
        </p:txBody>
      </p:sp>
      <p:sp>
        <p:nvSpPr>
          <p:cNvPr id="11" name="Text 5"/>
          <p:cNvSpPr/>
          <p:nvPr/>
        </p:nvSpPr>
        <p:spPr>
          <a:xfrm>
            <a:off x="3068603" y="4508638"/>
            <a:ext cx="300679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Ricardo Aravena</a:t>
            </a:r>
            <a:endParaRPr lang="en-US" sz="1050" dirty="0"/>
          </a:p>
        </p:txBody>
      </p:sp>
      <p:pic>
        <p:nvPicPr>
          <p:cNvPr id="1030" name="Picture 6" descr="Duoc UC Logo PNG Vector (SVG) Free Download">
            <a:extLst>
              <a:ext uri="{FF2B5EF4-FFF2-40B4-BE49-F238E27FC236}">
                <a16:creationId xmlns:a16="http://schemas.microsoft.com/office/drawing/2014/main" id="{8D80F35A-D6A4-CDF0-B544-92529B011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" y="207764"/>
            <a:ext cx="17049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FD7FC60-6984-A49C-D873-362F0EFC51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7019" y="3341684"/>
            <a:ext cx="1571658" cy="1611615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DCA87C84-ADBA-E51E-6CFD-0273C0E2E324}"/>
              </a:ext>
            </a:extLst>
          </p:cNvPr>
          <p:cNvSpPr txBox="1"/>
          <p:nvPr/>
        </p:nvSpPr>
        <p:spPr>
          <a:xfrm>
            <a:off x="3994824" y="2508492"/>
            <a:ext cx="1258111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050" dirty="0"/>
              <a:t>CAPSTONE_705D</a:t>
            </a:r>
          </a:p>
          <a:p>
            <a:endParaRPr lang="es-CL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768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884039"/>
            <a:ext cx="8286750" cy="21431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73273"/>
            <a:ext cx="25717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8675" y="428625"/>
            <a:ext cx="2714402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Introducción al Proyecto</a:t>
            </a:r>
            <a:endParaRPr lang="en-US" sz="160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244" y="1169789"/>
            <a:ext cx="2143125" cy="216935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14738" y="1169789"/>
            <a:ext cx="51006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C41E3A"/>
                </a:solidFill>
              </a:rPr>
              <a:t>Contexto</a:t>
            </a:r>
            <a:endParaRPr lang="en-US" sz="683" dirty="0"/>
          </a:p>
        </p:txBody>
      </p:sp>
      <p:sp>
        <p:nvSpPr>
          <p:cNvPr id="9" name="Text 4"/>
          <p:cNvSpPr/>
          <p:nvPr/>
        </p:nvSpPr>
        <p:spPr>
          <a:xfrm>
            <a:off x="3614738" y="1376958"/>
            <a:ext cx="5100638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El proyecto MFY se centra en el desarrollo de una solución digital completa para la barbería local </a:t>
            </a:r>
            <a:r>
              <a:rPr lang="en-US" sz="683" b="1" dirty="0">
                <a:solidFill>
                  <a:srgbClr val="2C2C2C"/>
                </a:solidFill>
              </a:rPr>
              <a:t>BlackStudio</a:t>
            </a:r>
            <a:r>
              <a:rPr lang="en-US" sz="727" dirty="0">
                <a:solidFill>
                  <a:srgbClr val="2C2C2C"/>
                </a:solidFill>
              </a:rPr>
              <a:t>.</a:t>
            </a:r>
            <a:endParaRPr lang="en-US" sz="727" dirty="0"/>
          </a:p>
        </p:txBody>
      </p:sp>
      <p:sp>
        <p:nvSpPr>
          <p:cNvPr id="10" name="Text 5"/>
          <p:cNvSpPr/>
          <p:nvPr/>
        </p:nvSpPr>
        <p:spPr>
          <a:xfrm>
            <a:off x="3614738" y="2032732"/>
            <a:ext cx="51006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C41E3A"/>
                </a:solidFill>
              </a:rPr>
              <a:t>Objetivo Principal</a:t>
            </a:r>
            <a:endParaRPr lang="en-US" sz="683" dirty="0"/>
          </a:p>
        </p:txBody>
      </p:sp>
      <p:sp>
        <p:nvSpPr>
          <p:cNvPr id="11" name="Text 6"/>
          <p:cNvSpPr/>
          <p:nvPr/>
        </p:nvSpPr>
        <p:spPr>
          <a:xfrm>
            <a:off x="3614738" y="2239900"/>
            <a:ext cx="5100638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Crear una </a:t>
            </a:r>
            <a:r>
              <a:rPr lang="en-US" sz="683" b="1" dirty="0">
                <a:solidFill>
                  <a:srgbClr val="2C2C2C"/>
                </a:solidFill>
              </a:rPr>
              <a:t>página web</a:t>
            </a:r>
            <a:r>
              <a:rPr lang="en-US" sz="727" dirty="0">
                <a:solidFill>
                  <a:srgbClr val="2C2C2C"/>
                </a:solidFill>
              </a:rPr>
              <a:t> y una </a:t>
            </a:r>
            <a:r>
              <a:rPr lang="en-US" sz="683" b="1" dirty="0">
                <a:solidFill>
                  <a:srgbClr val="2C2C2C"/>
                </a:solidFill>
              </a:rPr>
              <a:t>aplicación móvil</a:t>
            </a:r>
            <a:r>
              <a:rPr lang="en-US" sz="727" dirty="0">
                <a:solidFill>
                  <a:srgbClr val="2C2C2C"/>
                </a:solidFill>
              </a:rPr>
              <a:t> que permitan a los clientes reservar citas, comprar productos y gestionar servicios, mientras que los administradores manejen inventarios, reportes y métricas de negocio.</a:t>
            </a:r>
            <a:endParaRPr lang="en-US" sz="727" dirty="0"/>
          </a:p>
        </p:txBody>
      </p:sp>
      <p:sp>
        <p:nvSpPr>
          <p:cNvPr id="12" name="Text 7"/>
          <p:cNvSpPr/>
          <p:nvPr/>
        </p:nvSpPr>
        <p:spPr>
          <a:xfrm>
            <a:off x="3614738" y="3055683"/>
            <a:ext cx="51006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C41E3A"/>
                </a:solidFill>
              </a:rPr>
              <a:t>Beneficios Clave</a:t>
            </a:r>
            <a:endParaRPr lang="en-US" sz="683" dirty="0"/>
          </a:p>
        </p:txBody>
      </p:sp>
      <p:sp>
        <p:nvSpPr>
          <p:cNvPr id="13" name="Text 8"/>
          <p:cNvSpPr/>
          <p:nvPr/>
        </p:nvSpPr>
        <p:spPr>
          <a:xfrm>
            <a:off x="3614738" y="3262852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4AF37"/>
                </a:solidFill>
              </a:rPr>
              <a:t>▸</a:t>
            </a:r>
            <a:endParaRPr lang="en-US" sz="683" dirty="0"/>
          </a:p>
        </p:txBody>
      </p:sp>
      <p:sp>
        <p:nvSpPr>
          <p:cNvPr id="14" name="Text 9"/>
          <p:cNvSpPr/>
          <p:nvPr/>
        </p:nvSpPr>
        <p:spPr>
          <a:xfrm>
            <a:off x="3793331" y="3262852"/>
            <a:ext cx="169812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Mejora de la experiencia del usuario</a:t>
            </a:r>
            <a:endParaRPr lang="en-US" sz="727" dirty="0"/>
          </a:p>
        </p:txBody>
      </p:sp>
      <p:sp>
        <p:nvSpPr>
          <p:cNvPr id="15" name="Text 10"/>
          <p:cNvSpPr/>
          <p:nvPr/>
        </p:nvSpPr>
        <p:spPr>
          <a:xfrm>
            <a:off x="3614738" y="3455733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4AF37"/>
                </a:solidFill>
              </a:rPr>
              <a:t>▸</a:t>
            </a:r>
            <a:endParaRPr lang="en-US" sz="683" dirty="0"/>
          </a:p>
        </p:txBody>
      </p:sp>
      <p:sp>
        <p:nvSpPr>
          <p:cNvPr id="16" name="Text 11"/>
          <p:cNvSpPr/>
          <p:nvPr/>
        </p:nvSpPr>
        <p:spPr>
          <a:xfrm>
            <a:off x="3793331" y="3455733"/>
            <a:ext cx="23437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Autenticación segura e integración con Transbank</a:t>
            </a:r>
            <a:endParaRPr lang="en-US" sz="727" dirty="0"/>
          </a:p>
        </p:txBody>
      </p:sp>
      <p:sp>
        <p:nvSpPr>
          <p:cNvPr id="17" name="Text 12"/>
          <p:cNvSpPr/>
          <p:nvPr/>
        </p:nvSpPr>
        <p:spPr>
          <a:xfrm>
            <a:off x="3614738" y="3648615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4AF37"/>
                </a:solidFill>
              </a:rPr>
              <a:t>▸</a:t>
            </a:r>
            <a:endParaRPr lang="en-US" sz="683" dirty="0"/>
          </a:p>
        </p:txBody>
      </p:sp>
      <p:sp>
        <p:nvSpPr>
          <p:cNvPr id="18" name="Text 13"/>
          <p:cNvSpPr/>
          <p:nvPr/>
        </p:nvSpPr>
        <p:spPr>
          <a:xfrm>
            <a:off x="3793331" y="3648615"/>
            <a:ext cx="18659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Análisis de Inteligencia de Negocios (BI)</a:t>
            </a:r>
            <a:endParaRPr lang="en-US" sz="727" dirty="0"/>
          </a:p>
        </p:txBody>
      </p:sp>
      <p:sp>
        <p:nvSpPr>
          <p:cNvPr id="19" name="Text 14"/>
          <p:cNvSpPr/>
          <p:nvPr/>
        </p:nvSpPr>
        <p:spPr>
          <a:xfrm>
            <a:off x="3614738" y="3841496"/>
            <a:ext cx="500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D4AF37"/>
                </a:solidFill>
              </a:rPr>
              <a:t>▸</a:t>
            </a:r>
            <a:endParaRPr lang="en-US" sz="683" dirty="0"/>
          </a:p>
        </p:txBody>
      </p:sp>
      <p:sp>
        <p:nvSpPr>
          <p:cNvPr id="20" name="Text 15"/>
          <p:cNvSpPr/>
          <p:nvPr/>
        </p:nvSpPr>
        <p:spPr>
          <a:xfrm>
            <a:off x="3793331" y="3841496"/>
            <a:ext cx="225329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Arquitectura escalable basada en microservicios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768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884039"/>
            <a:ext cx="8286750" cy="21431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73273"/>
            <a:ext cx="2857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7250" y="428625"/>
            <a:ext cx="2997501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Maquetación y Tecnologías</a:t>
            </a:r>
            <a:endParaRPr lang="en-US" sz="160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1209080"/>
            <a:ext cx="150019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64369" y="1228725"/>
            <a:ext cx="94029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1A1A1A"/>
                </a:solidFill>
              </a:rPr>
              <a:t>Maquetación</a:t>
            </a:r>
            <a:endParaRPr lang="en-US" sz="784" dirty="0"/>
          </a:p>
        </p:txBody>
      </p:sp>
      <p:sp>
        <p:nvSpPr>
          <p:cNvPr id="9" name="Text 4"/>
          <p:cNvSpPr/>
          <p:nvPr/>
        </p:nvSpPr>
        <p:spPr>
          <a:xfrm>
            <a:off x="428625" y="1685925"/>
            <a:ext cx="26193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C41E3A"/>
                </a:solidFill>
              </a:rPr>
              <a:t>Diseño Responsive</a:t>
            </a:r>
            <a:endParaRPr lang="en-US" sz="584" dirty="0"/>
          </a:p>
        </p:txBody>
      </p:sp>
      <p:sp>
        <p:nvSpPr>
          <p:cNvPr id="10" name="Text 5"/>
          <p:cNvSpPr/>
          <p:nvPr/>
        </p:nvSpPr>
        <p:spPr>
          <a:xfrm>
            <a:off x="428625" y="1844873"/>
            <a:ext cx="261938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Interfaz de usuario (UI) adaptable a móviles, tablets y navegadores web.</a:t>
            </a:r>
            <a:endParaRPr lang="en-US" sz="674" dirty="0"/>
          </a:p>
        </p:txBody>
      </p:sp>
      <p:sp>
        <p:nvSpPr>
          <p:cNvPr id="11" name="Text 6"/>
          <p:cNvSpPr/>
          <p:nvPr/>
        </p:nvSpPr>
        <p:spPr>
          <a:xfrm>
            <a:off x="428625" y="2252067"/>
            <a:ext cx="26193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C41E3A"/>
                </a:solidFill>
              </a:rPr>
              <a:t>Consistencia Visual</a:t>
            </a:r>
            <a:endParaRPr lang="en-US" sz="584" dirty="0"/>
          </a:p>
        </p:txBody>
      </p:sp>
      <p:sp>
        <p:nvSpPr>
          <p:cNvPr id="12" name="Text 7"/>
          <p:cNvSpPr/>
          <p:nvPr/>
        </p:nvSpPr>
        <p:spPr>
          <a:xfrm>
            <a:off x="428625" y="2411016"/>
            <a:ext cx="261938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Colores y vista uniforme entre la web y la app móvil.</a:t>
            </a:r>
            <a:endParaRPr lang="en-US" sz="674" dirty="0"/>
          </a:p>
        </p:txBody>
      </p:sp>
      <p:sp>
        <p:nvSpPr>
          <p:cNvPr id="13" name="Text 8"/>
          <p:cNvSpPr/>
          <p:nvPr/>
        </p:nvSpPr>
        <p:spPr>
          <a:xfrm>
            <a:off x="428625" y="2678906"/>
            <a:ext cx="26193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C41E3A"/>
                </a:solidFill>
              </a:rPr>
              <a:t>Usabilidad</a:t>
            </a:r>
            <a:endParaRPr lang="en-US" sz="584" dirty="0"/>
          </a:p>
        </p:txBody>
      </p:sp>
      <p:sp>
        <p:nvSpPr>
          <p:cNvPr id="14" name="Text 9"/>
          <p:cNvSpPr/>
          <p:nvPr/>
        </p:nvSpPr>
        <p:spPr>
          <a:xfrm>
            <a:off x="428625" y="2837855"/>
            <a:ext cx="2619384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Navegación intuitiva, botones claros y mensajes de validación.</a:t>
            </a:r>
            <a:endParaRPr lang="en-US" sz="674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2322" y="1209080"/>
            <a:ext cx="200025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48072" y="1228725"/>
            <a:ext cx="65443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1A1A1A"/>
                </a:solidFill>
              </a:rPr>
              <a:t>Sitio Web</a:t>
            </a:r>
            <a:endParaRPr lang="en-US" sz="784" dirty="0"/>
          </a:p>
        </p:txBody>
      </p:sp>
      <p:sp>
        <p:nvSpPr>
          <p:cNvPr id="17" name="Text 11"/>
          <p:cNvSpPr/>
          <p:nvPr/>
        </p:nvSpPr>
        <p:spPr>
          <a:xfrm>
            <a:off x="3262322" y="1685925"/>
            <a:ext cx="26193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C41E3A"/>
                </a:solidFill>
              </a:rPr>
              <a:t>Back-end</a:t>
            </a:r>
            <a:endParaRPr lang="en-US" sz="584" dirty="0"/>
          </a:p>
        </p:txBody>
      </p:sp>
      <p:sp>
        <p:nvSpPr>
          <p:cNvPr id="18" name="Text 12"/>
          <p:cNvSpPr/>
          <p:nvPr/>
        </p:nvSpPr>
        <p:spPr>
          <a:xfrm>
            <a:off x="3262322" y="1844873"/>
            <a:ext cx="928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▪</a:t>
            </a:r>
            <a:endParaRPr lang="en-US" sz="634" dirty="0"/>
          </a:p>
        </p:txBody>
      </p:sp>
      <p:sp>
        <p:nvSpPr>
          <p:cNvPr id="19" name="Text 13"/>
          <p:cNvSpPr/>
          <p:nvPr/>
        </p:nvSpPr>
        <p:spPr>
          <a:xfrm>
            <a:off x="3405197" y="1844873"/>
            <a:ext cx="6571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Python/Django</a:t>
            </a:r>
            <a:endParaRPr lang="en-US" sz="674" dirty="0"/>
          </a:p>
        </p:txBody>
      </p:sp>
      <p:sp>
        <p:nvSpPr>
          <p:cNvPr id="20" name="Text 14"/>
          <p:cNvSpPr/>
          <p:nvPr/>
        </p:nvSpPr>
        <p:spPr>
          <a:xfrm>
            <a:off x="3262322" y="2100263"/>
            <a:ext cx="26193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C41E3A"/>
                </a:solidFill>
              </a:rPr>
              <a:t>Navegadores</a:t>
            </a:r>
            <a:endParaRPr lang="en-US" sz="584" dirty="0"/>
          </a:p>
        </p:txBody>
      </p:sp>
      <p:sp>
        <p:nvSpPr>
          <p:cNvPr id="21" name="Text 15"/>
          <p:cNvSpPr/>
          <p:nvPr/>
        </p:nvSpPr>
        <p:spPr>
          <a:xfrm>
            <a:off x="3262322" y="2259211"/>
            <a:ext cx="928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▪</a:t>
            </a:r>
            <a:endParaRPr lang="en-US" sz="634" dirty="0"/>
          </a:p>
        </p:txBody>
      </p:sp>
      <p:sp>
        <p:nvSpPr>
          <p:cNvPr id="22" name="Text 16"/>
          <p:cNvSpPr/>
          <p:nvPr/>
        </p:nvSpPr>
        <p:spPr>
          <a:xfrm>
            <a:off x="3405197" y="2259211"/>
            <a:ext cx="34800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Chrome</a:t>
            </a:r>
            <a:endParaRPr lang="en-US" sz="674" dirty="0"/>
          </a:p>
        </p:txBody>
      </p:sp>
      <p:sp>
        <p:nvSpPr>
          <p:cNvPr id="23" name="Text 17"/>
          <p:cNvSpPr/>
          <p:nvPr/>
        </p:nvSpPr>
        <p:spPr>
          <a:xfrm>
            <a:off x="3262322" y="2428875"/>
            <a:ext cx="928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▪</a:t>
            </a:r>
            <a:endParaRPr lang="en-US" sz="634" dirty="0"/>
          </a:p>
        </p:txBody>
      </p:sp>
      <p:sp>
        <p:nvSpPr>
          <p:cNvPr id="24" name="Text 18"/>
          <p:cNvSpPr/>
          <p:nvPr/>
        </p:nvSpPr>
        <p:spPr>
          <a:xfrm>
            <a:off x="3405197" y="2428875"/>
            <a:ext cx="270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Opera</a:t>
            </a:r>
            <a:endParaRPr lang="en-US" sz="674" dirty="0"/>
          </a:p>
        </p:txBody>
      </p:sp>
      <p:sp>
        <p:nvSpPr>
          <p:cNvPr id="25" name="Text 19"/>
          <p:cNvSpPr/>
          <p:nvPr/>
        </p:nvSpPr>
        <p:spPr>
          <a:xfrm>
            <a:off x="3262322" y="2684264"/>
            <a:ext cx="26193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C41E3A"/>
                </a:solidFill>
              </a:rPr>
              <a:t>Integraciones</a:t>
            </a:r>
            <a:endParaRPr lang="en-US" sz="584" dirty="0"/>
          </a:p>
        </p:txBody>
      </p:sp>
      <p:sp>
        <p:nvSpPr>
          <p:cNvPr id="26" name="Text 20"/>
          <p:cNvSpPr/>
          <p:nvPr/>
        </p:nvSpPr>
        <p:spPr>
          <a:xfrm>
            <a:off x="3262322" y="2843213"/>
            <a:ext cx="928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▪</a:t>
            </a:r>
            <a:endParaRPr lang="en-US" sz="634" dirty="0"/>
          </a:p>
        </p:txBody>
      </p:sp>
      <p:sp>
        <p:nvSpPr>
          <p:cNvPr id="27" name="Text 21"/>
          <p:cNvSpPr/>
          <p:nvPr/>
        </p:nvSpPr>
        <p:spPr>
          <a:xfrm>
            <a:off x="3405197" y="2843213"/>
            <a:ext cx="79962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Transbank (Pagos)</a:t>
            </a:r>
            <a:endParaRPr lang="en-US" sz="674" dirty="0"/>
          </a:p>
        </p:txBody>
      </p:sp>
      <p:sp>
        <p:nvSpPr>
          <p:cNvPr id="28" name="Text 22"/>
          <p:cNvSpPr/>
          <p:nvPr/>
        </p:nvSpPr>
        <p:spPr>
          <a:xfrm>
            <a:off x="3262322" y="3012877"/>
            <a:ext cx="928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▪</a:t>
            </a:r>
            <a:endParaRPr lang="en-US" sz="634" dirty="0"/>
          </a:p>
        </p:txBody>
      </p:sp>
      <p:sp>
        <p:nvSpPr>
          <p:cNvPr id="29" name="Text 23"/>
          <p:cNvSpPr/>
          <p:nvPr/>
        </p:nvSpPr>
        <p:spPr>
          <a:xfrm>
            <a:off x="3405197" y="3012877"/>
            <a:ext cx="54524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Google Auth</a:t>
            </a:r>
            <a:endParaRPr lang="en-US" sz="674" dirty="0"/>
          </a:p>
        </p:txBody>
      </p:sp>
      <p:sp>
        <p:nvSpPr>
          <p:cNvPr id="30" name="Text 24"/>
          <p:cNvSpPr/>
          <p:nvPr/>
        </p:nvSpPr>
        <p:spPr>
          <a:xfrm>
            <a:off x="3262322" y="3182541"/>
            <a:ext cx="928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▪</a:t>
            </a:r>
            <a:endParaRPr lang="en-US" sz="634" dirty="0"/>
          </a:p>
        </p:txBody>
      </p:sp>
      <p:sp>
        <p:nvSpPr>
          <p:cNvPr id="31" name="Text 25"/>
          <p:cNvSpPr/>
          <p:nvPr/>
        </p:nvSpPr>
        <p:spPr>
          <a:xfrm>
            <a:off x="3405197" y="3182541"/>
            <a:ext cx="80333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Correo Electrónico</a:t>
            </a:r>
            <a:endParaRPr lang="en-US" sz="674" dirty="0"/>
          </a:p>
        </p:txBody>
      </p:sp>
      <p:sp>
        <p:nvSpPr>
          <p:cNvPr id="32" name="Text 26"/>
          <p:cNvSpPr/>
          <p:nvPr/>
        </p:nvSpPr>
        <p:spPr>
          <a:xfrm>
            <a:off x="6181744" y="1228725"/>
            <a:ext cx="6974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1A1A1A"/>
                </a:solidFill>
              </a:rPr>
              <a:t>App Móvil</a:t>
            </a:r>
            <a:endParaRPr lang="en-US" sz="784" dirty="0"/>
          </a:p>
        </p:txBody>
      </p:sp>
      <p:sp>
        <p:nvSpPr>
          <p:cNvPr id="33" name="Text 27"/>
          <p:cNvSpPr/>
          <p:nvPr/>
        </p:nvSpPr>
        <p:spPr>
          <a:xfrm>
            <a:off x="6096019" y="1685925"/>
            <a:ext cx="26193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C41E3A"/>
                </a:solidFill>
              </a:rPr>
              <a:t>Framework</a:t>
            </a:r>
            <a:endParaRPr lang="en-US" sz="584" dirty="0"/>
          </a:p>
        </p:txBody>
      </p:sp>
      <p:sp>
        <p:nvSpPr>
          <p:cNvPr id="34" name="Text 28"/>
          <p:cNvSpPr/>
          <p:nvPr/>
        </p:nvSpPr>
        <p:spPr>
          <a:xfrm>
            <a:off x="6096019" y="1844873"/>
            <a:ext cx="928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▪</a:t>
            </a:r>
            <a:endParaRPr lang="en-US" sz="634" dirty="0"/>
          </a:p>
        </p:txBody>
      </p:sp>
      <p:sp>
        <p:nvSpPr>
          <p:cNvPr id="35" name="Text 29"/>
          <p:cNvSpPr/>
          <p:nvPr/>
        </p:nvSpPr>
        <p:spPr>
          <a:xfrm>
            <a:off x="6238894" y="1844873"/>
            <a:ext cx="68621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Angular CLI v17</a:t>
            </a:r>
            <a:endParaRPr lang="en-US" sz="674" dirty="0"/>
          </a:p>
        </p:txBody>
      </p:sp>
      <p:sp>
        <p:nvSpPr>
          <p:cNvPr id="36" name="Text 30"/>
          <p:cNvSpPr/>
          <p:nvPr/>
        </p:nvSpPr>
        <p:spPr>
          <a:xfrm>
            <a:off x="6096019" y="2014538"/>
            <a:ext cx="928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▪</a:t>
            </a:r>
            <a:endParaRPr lang="en-US" sz="634" dirty="0"/>
          </a:p>
        </p:txBody>
      </p:sp>
      <p:sp>
        <p:nvSpPr>
          <p:cNvPr id="37" name="Text 31"/>
          <p:cNvSpPr/>
          <p:nvPr/>
        </p:nvSpPr>
        <p:spPr>
          <a:xfrm>
            <a:off x="6238894" y="2014538"/>
            <a:ext cx="21361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Ionic</a:t>
            </a:r>
            <a:endParaRPr lang="en-US" sz="674" dirty="0"/>
          </a:p>
        </p:txBody>
      </p:sp>
      <p:sp>
        <p:nvSpPr>
          <p:cNvPr id="38" name="Text 32"/>
          <p:cNvSpPr/>
          <p:nvPr/>
        </p:nvSpPr>
        <p:spPr>
          <a:xfrm>
            <a:off x="6096019" y="2269927"/>
            <a:ext cx="26193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C41E3A"/>
                </a:solidFill>
              </a:rPr>
              <a:t>Plataformas</a:t>
            </a:r>
            <a:endParaRPr lang="en-US" sz="584" dirty="0"/>
          </a:p>
        </p:txBody>
      </p:sp>
      <p:sp>
        <p:nvSpPr>
          <p:cNvPr id="39" name="Text 33"/>
          <p:cNvSpPr/>
          <p:nvPr/>
        </p:nvSpPr>
        <p:spPr>
          <a:xfrm>
            <a:off x="6096019" y="2428875"/>
            <a:ext cx="928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▪</a:t>
            </a:r>
            <a:endParaRPr lang="en-US" sz="634" dirty="0"/>
          </a:p>
        </p:txBody>
      </p:sp>
      <p:sp>
        <p:nvSpPr>
          <p:cNvPr id="40" name="Text 34"/>
          <p:cNvSpPr/>
          <p:nvPr/>
        </p:nvSpPr>
        <p:spPr>
          <a:xfrm>
            <a:off x="6238894" y="2428875"/>
            <a:ext cx="14747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iOS</a:t>
            </a:r>
            <a:endParaRPr lang="en-US" sz="674" dirty="0"/>
          </a:p>
        </p:txBody>
      </p:sp>
      <p:sp>
        <p:nvSpPr>
          <p:cNvPr id="41" name="Text 35"/>
          <p:cNvSpPr/>
          <p:nvPr/>
        </p:nvSpPr>
        <p:spPr>
          <a:xfrm>
            <a:off x="6096019" y="2598539"/>
            <a:ext cx="928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▪</a:t>
            </a:r>
            <a:endParaRPr lang="en-US" sz="634" dirty="0"/>
          </a:p>
        </p:txBody>
      </p:sp>
      <p:sp>
        <p:nvSpPr>
          <p:cNvPr id="42" name="Text 36"/>
          <p:cNvSpPr/>
          <p:nvPr/>
        </p:nvSpPr>
        <p:spPr>
          <a:xfrm>
            <a:off x="6238894" y="2598539"/>
            <a:ext cx="3476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Android</a:t>
            </a:r>
            <a:endParaRPr lang="en-US" sz="674" dirty="0"/>
          </a:p>
        </p:txBody>
      </p:sp>
      <p:sp>
        <p:nvSpPr>
          <p:cNvPr id="43" name="Text 37"/>
          <p:cNvSpPr/>
          <p:nvPr/>
        </p:nvSpPr>
        <p:spPr>
          <a:xfrm>
            <a:off x="6096019" y="2853928"/>
            <a:ext cx="2619384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C41E3A"/>
                </a:solidFill>
              </a:rPr>
              <a:t>Funcionalidades</a:t>
            </a:r>
            <a:endParaRPr lang="en-US" sz="584" dirty="0"/>
          </a:p>
        </p:txBody>
      </p:sp>
      <p:sp>
        <p:nvSpPr>
          <p:cNvPr id="44" name="Text 38"/>
          <p:cNvSpPr/>
          <p:nvPr/>
        </p:nvSpPr>
        <p:spPr>
          <a:xfrm>
            <a:off x="6096019" y="3012877"/>
            <a:ext cx="928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▪</a:t>
            </a:r>
            <a:endParaRPr lang="en-US" sz="634" dirty="0"/>
          </a:p>
        </p:txBody>
      </p:sp>
      <p:sp>
        <p:nvSpPr>
          <p:cNvPr id="45" name="Text 39"/>
          <p:cNvSpPr/>
          <p:nvPr/>
        </p:nvSpPr>
        <p:spPr>
          <a:xfrm>
            <a:off x="6238894" y="3012877"/>
            <a:ext cx="59633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Autenticación</a:t>
            </a:r>
            <a:endParaRPr lang="en-US" sz="674" dirty="0"/>
          </a:p>
        </p:txBody>
      </p:sp>
      <p:sp>
        <p:nvSpPr>
          <p:cNvPr id="46" name="Text 40"/>
          <p:cNvSpPr/>
          <p:nvPr/>
        </p:nvSpPr>
        <p:spPr>
          <a:xfrm>
            <a:off x="6096019" y="3182541"/>
            <a:ext cx="928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▪</a:t>
            </a:r>
            <a:endParaRPr lang="en-US" sz="634" dirty="0"/>
          </a:p>
        </p:txBody>
      </p:sp>
      <p:sp>
        <p:nvSpPr>
          <p:cNvPr id="47" name="Text 41"/>
          <p:cNvSpPr/>
          <p:nvPr/>
        </p:nvSpPr>
        <p:spPr>
          <a:xfrm>
            <a:off x="6238894" y="3182541"/>
            <a:ext cx="64572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Agendamiento</a:t>
            </a:r>
            <a:endParaRPr lang="en-US" sz="674" dirty="0"/>
          </a:p>
        </p:txBody>
      </p:sp>
      <p:sp>
        <p:nvSpPr>
          <p:cNvPr id="48" name="Text 42"/>
          <p:cNvSpPr/>
          <p:nvPr/>
        </p:nvSpPr>
        <p:spPr>
          <a:xfrm>
            <a:off x="6096019" y="3352205"/>
            <a:ext cx="928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▪</a:t>
            </a:r>
            <a:endParaRPr lang="en-US" sz="634" dirty="0"/>
          </a:p>
        </p:txBody>
      </p:sp>
      <p:sp>
        <p:nvSpPr>
          <p:cNvPr id="49" name="Text 43"/>
          <p:cNvSpPr/>
          <p:nvPr/>
        </p:nvSpPr>
        <p:spPr>
          <a:xfrm>
            <a:off x="6238894" y="3352205"/>
            <a:ext cx="85088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Carrito de Compras</a:t>
            </a:r>
            <a:endParaRPr lang="en-US" sz="674" dirty="0"/>
          </a:p>
        </p:txBody>
      </p:sp>
      <p:sp>
        <p:nvSpPr>
          <p:cNvPr id="50" name="Shape 44"/>
          <p:cNvSpPr/>
          <p:nvPr/>
        </p:nvSpPr>
        <p:spPr>
          <a:xfrm>
            <a:off x="428625" y="3821906"/>
            <a:ext cx="8286750" cy="67575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1" name="Shape 45"/>
          <p:cNvSpPr/>
          <p:nvPr/>
        </p:nvSpPr>
        <p:spPr>
          <a:xfrm>
            <a:off x="428625" y="3821906"/>
            <a:ext cx="8286750" cy="1428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2" name="Text 46"/>
          <p:cNvSpPr/>
          <p:nvPr/>
        </p:nvSpPr>
        <p:spPr>
          <a:xfrm>
            <a:off x="428625" y="3964781"/>
            <a:ext cx="8286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A1A1A"/>
                </a:solidFill>
              </a:rPr>
              <a:t>Componentes Clave</a:t>
            </a:r>
            <a:endParaRPr lang="en-US" sz="683" dirty="0"/>
          </a:p>
        </p:txBody>
      </p:sp>
      <p:sp>
        <p:nvSpPr>
          <p:cNvPr id="53" name="Text 47"/>
          <p:cNvSpPr/>
          <p:nvPr/>
        </p:nvSpPr>
        <p:spPr>
          <a:xfrm>
            <a:off x="428625" y="4186238"/>
            <a:ext cx="8286750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Microservicios:</a:t>
            </a:r>
            <a:r>
              <a:rPr lang="en-US" sz="674" dirty="0">
                <a:solidFill>
                  <a:srgbClr val="2C2C2C"/>
                </a:solidFill>
              </a:rPr>
              <a:t> Autenticación, Citas, Clientes, Catálogo, Ventas/Pagos, Reportes y BI | </a:t>
            </a:r>
            <a:r>
              <a:rPr lang="en-US" sz="634" b="1" dirty="0">
                <a:solidFill>
                  <a:srgbClr val="2C2C2C"/>
                </a:solidFill>
              </a:rPr>
              <a:t>Base de Datos:</a:t>
            </a:r>
            <a:r>
              <a:rPr lang="en-US" sz="674" dirty="0">
                <a:solidFill>
                  <a:srgbClr val="2C2C2C"/>
                </a:solidFill>
              </a:rPr>
              <a:t> BD Operacional para usuarios, reservas y transacciones | </a:t>
            </a:r>
            <a:r>
              <a:rPr lang="en-US" sz="634" b="1" dirty="0">
                <a:solidFill>
                  <a:srgbClr val="2C2C2C"/>
                </a:solidFill>
              </a:rPr>
              <a:t>Seguridad:</a:t>
            </a:r>
            <a:r>
              <a:rPr lang="en-US" sz="674" dirty="0">
                <a:solidFill>
                  <a:srgbClr val="2C2C2C"/>
                </a:solidFill>
              </a:rPr>
              <a:t> Cumplimiento de estándares PCI DSS para pagos seguros</a:t>
            </a:r>
            <a:endParaRPr lang="en-US" sz="6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4103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768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884039"/>
            <a:ext cx="8286750" cy="21431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73273"/>
            <a:ext cx="1714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2950" y="428625"/>
            <a:ext cx="2818293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Plan de Pruebas - Alcance</a:t>
            </a:r>
            <a:endParaRPr lang="en-US" sz="1602" dirty="0"/>
          </a:p>
        </p:txBody>
      </p:sp>
      <p:sp>
        <p:nvSpPr>
          <p:cNvPr id="7" name="Shape 3"/>
          <p:cNvSpPr/>
          <p:nvPr/>
        </p:nvSpPr>
        <p:spPr>
          <a:xfrm>
            <a:off x="428625" y="1098352"/>
            <a:ext cx="8286750" cy="51144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Shape 4"/>
          <p:cNvSpPr/>
          <p:nvPr/>
        </p:nvSpPr>
        <p:spPr>
          <a:xfrm>
            <a:off x="428625" y="884039"/>
            <a:ext cx="45719" cy="267011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5"/>
          <p:cNvSpPr/>
          <p:nvPr/>
        </p:nvSpPr>
        <p:spPr>
          <a:xfrm>
            <a:off x="428625" y="877802"/>
            <a:ext cx="8286750" cy="511448"/>
          </a:xfrm>
          <a:prstGeom prst="rect">
            <a:avLst/>
          </a:prstGeom>
          <a:noFill/>
          <a:ln/>
        </p:spPr>
        <p:txBody>
          <a:bodyPr wrap="square" lIns="127508" tIns="127508" rIns="0" bIns="127508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Alcance:</a:t>
            </a:r>
            <a:r>
              <a:rPr lang="en-US" sz="674" dirty="0">
                <a:solidFill>
                  <a:srgbClr val="2C2C2C"/>
                </a:solidFill>
              </a:rPr>
              <a:t> Las pruebas cubren funcionalidades de alto nivel, arquitectura y comunicación entre la aplicación móvil, la web de administración y los microservicios. Se ejecutan en entornos que replican producción (desarrollo y pruebas).</a:t>
            </a:r>
            <a:endParaRPr lang="en-US" sz="634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478" y="1391723"/>
            <a:ext cx="135731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0075" y="1403329"/>
            <a:ext cx="19165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A1A1A"/>
                </a:solidFill>
              </a:rPr>
              <a:t>Módulos Principales a Probar</a:t>
            </a:r>
            <a:endParaRPr lang="en-US" sz="683" dirty="0"/>
          </a:p>
        </p:txBody>
      </p:sp>
      <p:sp>
        <p:nvSpPr>
          <p:cNvPr id="12" name="Shape 7"/>
          <p:cNvSpPr/>
          <p:nvPr/>
        </p:nvSpPr>
        <p:spPr>
          <a:xfrm>
            <a:off x="390396" y="1593055"/>
            <a:ext cx="8286750" cy="28753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CL" dirty="0"/>
          </a:p>
        </p:txBody>
      </p:sp>
      <p:sp>
        <p:nvSpPr>
          <p:cNvPr id="13" name="Text 8"/>
          <p:cNvSpPr/>
          <p:nvPr/>
        </p:nvSpPr>
        <p:spPr>
          <a:xfrm>
            <a:off x="382190" y="1617771"/>
            <a:ext cx="2818740" cy="28753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FFFFFF"/>
                </a:solidFill>
              </a:rPr>
              <a:t>Módulo</a:t>
            </a:r>
            <a:endParaRPr lang="en-US" sz="584" dirty="0"/>
          </a:p>
        </p:txBody>
      </p:sp>
      <p:sp>
        <p:nvSpPr>
          <p:cNvPr id="14" name="Text 9"/>
          <p:cNvSpPr/>
          <p:nvPr/>
        </p:nvSpPr>
        <p:spPr>
          <a:xfrm>
            <a:off x="3200930" y="1617771"/>
            <a:ext cx="5468010" cy="287536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FFFFFF"/>
                </a:solidFill>
              </a:rPr>
              <a:t>Tipo de Pruebas Aplicadas</a:t>
            </a:r>
            <a:endParaRPr lang="en-US" sz="584" dirty="0"/>
          </a:p>
        </p:txBody>
      </p:sp>
      <p:sp>
        <p:nvSpPr>
          <p:cNvPr id="15" name="Shape 10"/>
          <p:cNvSpPr/>
          <p:nvPr/>
        </p:nvSpPr>
        <p:spPr>
          <a:xfrm>
            <a:off x="342901" y="1963002"/>
            <a:ext cx="8286750" cy="301823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1"/>
          <p:cNvSpPr/>
          <p:nvPr/>
        </p:nvSpPr>
        <p:spPr>
          <a:xfrm>
            <a:off x="342901" y="1963002"/>
            <a:ext cx="2818740" cy="301823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Autenticación/Login/Registro</a:t>
            </a:r>
            <a:endParaRPr lang="en-US" sz="634" dirty="0"/>
          </a:p>
        </p:txBody>
      </p:sp>
      <p:sp>
        <p:nvSpPr>
          <p:cNvPr id="17" name="Text 12"/>
          <p:cNvSpPr/>
          <p:nvPr/>
        </p:nvSpPr>
        <p:spPr>
          <a:xfrm>
            <a:off x="3268797" y="2048727"/>
            <a:ext cx="109994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41E3A"/>
                </a:solidFill>
              </a:rPr>
              <a:t>Funcionales y Seguridad</a:t>
            </a:r>
            <a:endParaRPr lang="en-US" sz="634" dirty="0"/>
          </a:p>
        </p:txBody>
      </p:sp>
      <p:sp>
        <p:nvSpPr>
          <p:cNvPr id="18" name="Text 13"/>
          <p:cNvSpPr/>
          <p:nvPr/>
        </p:nvSpPr>
        <p:spPr>
          <a:xfrm>
            <a:off x="342901" y="2264826"/>
            <a:ext cx="2818740" cy="30539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App Móvil (Cliente)</a:t>
            </a:r>
            <a:endParaRPr lang="en-US" sz="634" dirty="0"/>
          </a:p>
        </p:txBody>
      </p:sp>
      <p:sp>
        <p:nvSpPr>
          <p:cNvPr id="19" name="Text 14"/>
          <p:cNvSpPr/>
          <p:nvPr/>
        </p:nvSpPr>
        <p:spPr>
          <a:xfrm>
            <a:off x="3268797" y="2354123"/>
            <a:ext cx="185896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41E3A"/>
                </a:solidFill>
              </a:rPr>
              <a:t>Funcionales, Usabilidad y Compatibilidad</a:t>
            </a:r>
            <a:endParaRPr lang="en-US" sz="634" dirty="0"/>
          </a:p>
        </p:txBody>
      </p:sp>
      <p:sp>
        <p:nvSpPr>
          <p:cNvPr id="20" name="Shape 15"/>
          <p:cNvSpPr/>
          <p:nvPr/>
        </p:nvSpPr>
        <p:spPr>
          <a:xfrm>
            <a:off x="342901" y="2570221"/>
            <a:ext cx="8286750" cy="305395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6"/>
          <p:cNvSpPr/>
          <p:nvPr/>
        </p:nvSpPr>
        <p:spPr>
          <a:xfrm>
            <a:off x="342901" y="2570221"/>
            <a:ext cx="2818740" cy="30539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Web (Admin)</a:t>
            </a:r>
            <a:endParaRPr lang="en-US" sz="634" dirty="0"/>
          </a:p>
        </p:txBody>
      </p:sp>
      <p:sp>
        <p:nvSpPr>
          <p:cNvPr id="22" name="Text 17"/>
          <p:cNvSpPr/>
          <p:nvPr/>
        </p:nvSpPr>
        <p:spPr>
          <a:xfrm>
            <a:off x="3268797" y="2659518"/>
            <a:ext cx="53977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41E3A"/>
                </a:solidFill>
              </a:rPr>
              <a:t>Funcionales</a:t>
            </a:r>
            <a:endParaRPr lang="en-US" sz="634" dirty="0"/>
          </a:p>
        </p:txBody>
      </p:sp>
      <p:sp>
        <p:nvSpPr>
          <p:cNvPr id="23" name="Text 18"/>
          <p:cNvSpPr/>
          <p:nvPr/>
        </p:nvSpPr>
        <p:spPr>
          <a:xfrm>
            <a:off x="3808569" y="2659518"/>
            <a:ext cx="183789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(Reportes, Gestión de Clientes/Productos)</a:t>
            </a:r>
            <a:endParaRPr lang="en-US" sz="674" dirty="0"/>
          </a:p>
        </p:txBody>
      </p:sp>
      <p:sp>
        <p:nvSpPr>
          <p:cNvPr id="24" name="Text 19"/>
          <p:cNvSpPr/>
          <p:nvPr/>
        </p:nvSpPr>
        <p:spPr>
          <a:xfrm>
            <a:off x="342901" y="2875616"/>
            <a:ext cx="2818740" cy="30539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Inteligencia de Negocios (BI)</a:t>
            </a:r>
            <a:endParaRPr lang="en-US" sz="634" dirty="0"/>
          </a:p>
        </p:txBody>
      </p:sp>
      <p:sp>
        <p:nvSpPr>
          <p:cNvPr id="25" name="Text 20"/>
          <p:cNvSpPr/>
          <p:nvPr/>
        </p:nvSpPr>
        <p:spPr>
          <a:xfrm>
            <a:off x="3268797" y="2964913"/>
            <a:ext cx="116914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41E3A"/>
                </a:solidFill>
              </a:rPr>
              <a:t>Funcionales e Integración</a:t>
            </a:r>
            <a:endParaRPr lang="en-US" sz="634" dirty="0"/>
          </a:p>
        </p:txBody>
      </p:sp>
      <p:sp>
        <p:nvSpPr>
          <p:cNvPr id="26" name="Shape 21"/>
          <p:cNvSpPr/>
          <p:nvPr/>
        </p:nvSpPr>
        <p:spPr>
          <a:xfrm>
            <a:off x="342901" y="3181012"/>
            <a:ext cx="8286750" cy="305395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Text 22"/>
          <p:cNvSpPr/>
          <p:nvPr/>
        </p:nvSpPr>
        <p:spPr>
          <a:xfrm>
            <a:off x="342901" y="3181012"/>
            <a:ext cx="2818740" cy="305395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Integraciones</a:t>
            </a:r>
            <a:endParaRPr lang="en-US" sz="634" dirty="0"/>
          </a:p>
        </p:txBody>
      </p:sp>
      <p:sp>
        <p:nvSpPr>
          <p:cNvPr id="28" name="Text 23"/>
          <p:cNvSpPr/>
          <p:nvPr/>
        </p:nvSpPr>
        <p:spPr>
          <a:xfrm>
            <a:off x="3258276" y="3270308"/>
            <a:ext cx="138516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C41E3A"/>
                </a:solidFill>
              </a:rPr>
              <a:t>Integración y Manejo de Fallos</a:t>
            </a:r>
            <a:endParaRPr lang="en-US" sz="634" dirty="0"/>
          </a:p>
        </p:txBody>
      </p:sp>
      <p:sp>
        <p:nvSpPr>
          <p:cNvPr id="29" name="Text 24"/>
          <p:cNvSpPr/>
          <p:nvPr/>
        </p:nvSpPr>
        <p:spPr>
          <a:xfrm>
            <a:off x="4366586" y="3260190"/>
            <a:ext cx="14751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(Transbank, Google Auth, Correo)</a:t>
            </a:r>
            <a:endParaRPr lang="en-US" sz="674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056" y="3690417"/>
            <a:ext cx="135731" cy="1285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57225" y="3686845"/>
            <a:ext cx="22366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A1A1A"/>
                </a:solidFill>
              </a:rPr>
              <a:t>Requisitos del Ambiente de Pruebas</a:t>
            </a:r>
            <a:endParaRPr lang="en-US" sz="683" dirty="0"/>
          </a:p>
        </p:txBody>
      </p:sp>
      <p:sp>
        <p:nvSpPr>
          <p:cNvPr id="32" name="Shape 26"/>
          <p:cNvSpPr/>
          <p:nvPr/>
        </p:nvSpPr>
        <p:spPr>
          <a:xfrm>
            <a:off x="382190" y="3836972"/>
            <a:ext cx="4071938" cy="609005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Shape 27"/>
          <p:cNvSpPr/>
          <p:nvPr/>
        </p:nvSpPr>
        <p:spPr>
          <a:xfrm>
            <a:off x="422748" y="3906624"/>
            <a:ext cx="21431" cy="609005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Text 28"/>
          <p:cNvSpPr/>
          <p:nvPr/>
        </p:nvSpPr>
        <p:spPr>
          <a:xfrm>
            <a:off x="467915" y="3922697"/>
            <a:ext cx="39004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C41E3A"/>
                </a:solidFill>
              </a:rPr>
              <a:t>Software Cliente</a:t>
            </a:r>
            <a:endParaRPr lang="en-US" sz="584" dirty="0"/>
          </a:p>
        </p:txBody>
      </p:sp>
      <p:sp>
        <p:nvSpPr>
          <p:cNvPr id="35" name="Text 29"/>
          <p:cNvSpPr/>
          <p:nvPr/>
        </p:nvSpPr>
        <p:spPr>
          <a:xfrm>
            <a:off x="467915" y="4081645"/>
            <a:ext cx="390048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Dispositivos móviles con iOS/Android recientes para app; navegadores Chrome/Opera para web.</a:t>
            </a:r>
            <a:endParaRPr lang="en-US" sz="674" dirty="0"/>
          </a:p>
        </p:txBody>
      </p:sp>
      <p:sp>
        <p:nvSpPr>
          <p:cNvPr id="36" name="Shape 30"/>
          <p:cNvSpPr/>
          <p:nvPr/>
        </p:nvSpPr>
        <p:spPr>
          <a:xfrm>
            <a:off x="4597003" y="3836972"/>
            <a:ext cx="4071938" cy="609005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7" name="Shape 31"/>
          <p:cNvSpPr/>
          <p:nvPr/>
        </p:nvSpPr>
        <p:spPr>
          <a:xfrm>
            <a:off x="4629252" y="3843593"/>
            <a:ext cx="21431" cy="609005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Text 32"/>
          <p:cNvSpPr/>
          <p:nvPr/>
        </p:nvSpPr>
        <p:spPr>
          <a:xfrm>
            <a:off x="4682728" y="3922697"/>
            <a:ext cx="39004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C41E3A"/>
                </a:solidFill>
              </a:rPr>
              <a:t>Lenguajes/Frameworks</a:t>
            </a:r>
            <a:endParaRPr lang="en-US" sz="584" dirty="0"/>
          </a:p>
        </p:txBody>
      </p:sp>
      <p:sp>
        <p:nvSpPr>
          <p:cNvPr id="39" name="Text 33"/>
          <p:cNvSpPr/>
          <p:nvPr/>
        </p:nvSpPr>
        <p:spPr>
          <a:xfrm>
            <a:off x="4682728" y="4081645"/>
            <a:ext cx="39004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Soporte para Python/Django (web) y Angular CLI v17/Ionic (móvil).</a:t>
            </a:r>
            <a:endParaRPr lang="en-US" sz="674" dirty="0"/>
          </a:p>
        </p:txBody>
      </p:sp>
      <p:sp>
        <p:nvSpPr>
          <p:cNvPr id="40" name="Shape 34"/>
          <p:cNvSpPr/>
          <p:nvPr/>
        </p:nvSpPr>
        <p:spPr>
          <a:xfrm>
            <a:off x="382190" y="4588852"/>
            <a:ext cx="4071938" cy="469702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1" name="Shape 35"/>
          <p:cNvSpPr/>
          <p:nvPr/>
        </p:nvSpPr>
        <p:spPr>
          <a:xfrm>
            <a:off x="422748" y="4658504"/>
            <a:ext cx="21431" cy="46970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36"/>
          <p:cNvSpPr/>
          <p:nvPr/>
        </p:nvSpPr>
        <p:spPr>
          <a:xfrm>
            <a:off x="467915" y="4674577"/>
            <a:ext cx="39004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C41E3A"/>
                </a:solidFill>
              </a:rPr>
              <a:t>Documentación</a:t>
            </a:r>
            <a:endParaRPr lang="en-US" sz="584" dirty="0"/>
          </a:p>
        </p:txBody>
      </p:sp>
      <p:sp>
        <p:nvSpPr>
          <p:cNvPr id="43" name="Text 37"/>
          <p:cNvSpPr/>
          <p:nvPr/>
        </p:nvSpPr>
        <p:spPr>
          <a:xfrm>
            <a:off x="467915" y="4833525"/>
            <a:ext cx="39004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Ficha Técnica, Diagrama Arquitectónico, Requerimientos Funcionales/No Funcionales.</a:t>
            </a:r>
            <a:endParaRPr lang="en-US" sz="674" dirty="0"/>
          </a:p>
        </p:txBody>
      </p:sp>
      <p:sp>
        <p:nvSpPr>
          <p:cNvPr id="44" name="Shape 38"/>
          <p:cNvSpPr/>
          <p:nvPr/>
        </p:nvSpPr>
        <p:spPr>
          <a:xfrm>
            <a:off x="4597003" y="4588852"/>
            <a:ext cx="4071938" cy="469702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Shape 39"/>
          <p:cNvSpPr/>
          <p:nvPr/>
        </p:nvSpPr>
        <p:spPr>
          <a:xfrm>
            <a:off x="4629252" y="4595473"/>
            <a:ext cx="21431" cy="46970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6" name="Text 40"/>
          <p:cNvSpPr/>
          <p:nvPr/>
        </p:nvSpPr>
        <p:spPr>
          <a:xfrm>
            <a:off x="4682728" y="4674577"/>
            <a:ext cx="390048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C41E3A"/>
                </a:solidFill>
              </a:rPr>
              <a:t>Entorno</a:t>
            </a:r>
            <a:endParaRPr lang="en-US" sz="584" dirty="0"/>
          </a:p>
        </p:txBody>
      </p:sp>
      <p:sp>
        <p:nvSpPr>
          <p:cNvPr id="47" name="Text 41"/>
          <p:cNvSpPr/>
          <p:nvPr/>
        </p:nvSpPr>
        <p:spPr>
          <a:xfrm>
            <a:off x="4682728" y="4833525"/>
            <a:ext cx="39004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Entornos que repliquen el ambiente de producción (desarrollo y pruebas).</a:t>
            </a:r>
            <a:endParaRPr lang="en-US" sz="67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768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884039"/>
            <a:ext cx="8286750" cy="21431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73273"/>
            <a:ext cx="20002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1525" y="428625"/>
            <a:ext cx="32503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Tipos de Pruebas Funcionales</a:t>
            </a:r>
            <a:endParaRPr lang="en-US" sz="1602" dirty="0"/>
          </a:p>
        </p:txBody>
      </p:sp>
      <p:sp>
        <p:nvSpPr>
          <p:cNvPr id="7" name="Text 3"/>
          <p:cNvSpPr/>
          <p:nvPr/>
        </p:nvSpPr>
        <p:spPr>
          <a:xfrm>
            <a:off x="428625" y="1134070"/>
            <a:ext cx="8286750" cy="24110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1A1A1A"/>
                </a:solidFill>
              </a:rPr>
              <a:t>Tipos de Pruebas a Ejecutar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428625" y="1482328"/>
            <a:ext cx="4000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kern="0" spc="1" dirty="0">
                <a:solidFill>
                  <a:srgbClr val="C41E3A"/>
                </a:solidFill>
              </a:rPr>
              <a:t>Pruebas Funcionales</a:t>
            </a:r>
            <a:endParaRPr lang="en-US" sz="634" dirty="0"/>
          </a:p>
        </p:txBody>
      </p:sp>
      <p:sp>
        <p:nvSpPr>
          <p:cNvPr id="9" name="Text 5"/>
          <p:cNvSpPr/>
          <p:nvPr/>
        </p:nvSpPr>
        <p:spPr>
          <a:xfrm>
            <a:off x="428625" y="1694855"/>
            <a:ext cx="57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4AF37"/>
                </a:solidFill>
              </a:rPr>
              <a:t>▸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571500" y="1694855"/>
            <a:ext cx="3857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Unitarias</a:t>
            </a:r>
            <a:endParaRPr lang="en-US" sz="634" dirty="0"/>
          </a:p>
        </p:txBody>
      </p:sp>
      <p:sp>
        <p:nvSpPr>
          <p:cNvPr id="11" name="Text 7"/>
          <p:cNvSpPr/>
          <p:nvPr/>
        </p:nvSpPr>
        <p:spPr>
          <a:xfrm>
            <a:off x="571500" y="1843088"/>
            <a:ext cx="38576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Verificar el correcto funcionamiento de cada microservicio.</a:t>
            </a:r>
            <a:endParaRPr lang="en-US" sz="621" dirty="0"/>
          </a:p>
        </p:txBody>
      </p:sp>
      <p:sp>
        <p:nvSpPr>
          <p:cNvPr id="12" name="Text 8"/>
          <p:cNvSpPr/>
          <p:nvPr/>
        </p:nvSpPr>
        <p:spPr>
          <a:xfrm>
            <a:off x="428625" y="2048805"/>
            <a:ext cx="57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4AF37"/>
                </a:solidFill>
              </a:rPr>
              <a:t>▸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571500" y="2048805"/>
            <a:ext cx="3857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Integración</a:t>
            </a:r>
            <a:endParaRPr lang="en-US" sz="634" dirty="0"/>
          </a:p>
        </p:txBody>
      </p:sp>
      <p:sp>
        <p:nvSpPr>
          <p:cNvPr id="14" name="Text 10"/>
          <p:cNvSpPr/>
          <p:nvPr/>
        </p:nvSpPr>
        <p:spPr>
          <a:xfrm>
            <a:off x="571500" y="2197038"/>
            <a:ext cx="38576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Validar la comunicación entre microservicios y APIs externas (ej. Transbank).</a:t>
            </a:r>
            <a:endParaRPr lang="en-US" sz="621" dirty="0"/>
          </a:p>
        </p:txBody>
      </p:sp>
      <p:sp>
        <p:nvSpPr>
          <p:cNvPr id="15" name="Text 11"/>
          <p:cNvSpPr/>
          <p:nvPr/>
        </p:nvSpPr>
        <p:spPr>
          <a:xfrm>
            <a:off x="428625" y="2402756"/>
            <a:ext cx="57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4AF37"/>
                </a:solidFill>
              </a:rPr>
              <a:t>▸</a:t>
            </a:r>
            <a:endParaRPr lang="en-US" sz="784" dirty="0"/>
          </a:p>
        </p:txBody>
      </p:sp>
      <p:sp>
        <p:nvSpPr>
          <p:cNvPr id="16" name="Text 12"/>
          <p:cNvSpPr/>
          <p:nvPr/>
        </p:nvSpPr>
        <p:spPr>
          <a:xfrm>
            <a:off x="571500" y="2402756"/>
            <a:ext cx="3857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Sistema End-to-End</a:t>
            </a:r>
            <a:endParaRPr lang="en-US" sz="634" dirty="0"/>
          </a:p>
        </p:txBody>
      </p:sp>
      <p:sp>
        <p:nvSpPr>
          <p:cNvPr id="17" name="Text 13"/>
          <p:cNvSpPr/>
          <p:nvPr/>
        </p:nvSpPr>
        <p:spPr>
          <a:xfrm>
            <a:off x="571500" y="2550988"/>
            <a:ext cx="38576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Simular el flujo completo del usuario (Registro - Cita - Reporte).</a:t>
            </a:r>
            <a:endParaRPr lang="en-US" sz="621" dirty="0"/>
          </a:p>
        </p:txBody>
      </p:sp>
      <p:sp>
        <p:nvSpPr>
          <p:cNvPr id="18" name="Text 14"/>
          <p:cNvSpPr/>
          <p:nvPr/>
        </p:nvSpPr>
        <p:spPr>
          <a:xfrm>
            <a:off x="4714875" y="1482328"/>
            <a:ext cx="400050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kern="0" spc="1" dirty="0">
                <a:solidFill>
                  <a:srgbClr val="C41E3A"/>
                </a:solidFill>
              </a:rPr>
              <a:t>Pruebas No Funcionales</a:t>
            </a:r>
            <a:endParaRPr lang="en-US" sz="634" dirty="0"/>
          </a:p>
        </p:txBody>
      </p:sp>
      <p:sp>
        <p:nvSpPr>
          <p:cNvPr id="19" name="Text 15"/>
          <p:cNvSpPr/>
          <p:nvPr/>
        </p:nvSpPr>
        <p:spPr>
          <a:xfrm>
            <a:off x="4714875" y="1694855"/>
            <a:ext cx="57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4AF37"/>
                </a:solidFill>
              </a:rPr>
              <a:t>▸</a:t>
            </a:r>
            <a:endParaRPr lang="en-US" sz="784" dirty="0"/>
          </a:p>
        </p:txBody>
      </p:sp>
      <p:sp>
        <p:nvSpPr>
          <p:cNvPr id="20" name="Text 16"/>
          <p:cNvSpPr/>
          <p:nvPr/>
        </p:nvSpPr>
        <p:spPr>
          <a:xfrm>
            <a:off x="4857750" y="1694855"/>
            <a:ext cx="3857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Usabilidad</a:t>
            </a:r>
            <a:endParaRPr lang="en-US" sz="634" dirty="0"/>
          </a:p>
        </p:txBody>
      </p:sp>
      <p:sp>
        <p:nvSpPr>
          <p:cNvPr id="21" name="Text 17"/>
          <p:cNvSpPr/>
          <p:nvPr/>
        </p:nvSpPr>
        <p:spPr>
          <a:xfrm>
            <a:off x="4857750" y="1843088"/>
            <a:ext cx="38576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Evaluar el diseño fácil de entender y usar.</a:t>
            </a:r>
            <a:endParaRPr lang="en-US" sz="621" dirty="0"/>
          </a:p>
        </p:txBody>
      </p:sp>
      <p:sp>
        <p:nvSpPr>
          <p:cNvPr id="22" name="Text 18"/>
          <p:cNvSpPr/>
          <p:nvPr/>
        </p:nvSpPr>
        <p:spPr>
          <a:xfrm>
            <a:off x="4714875" y="2048805"/>
            <a:ext cx="57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4AF37"/>
                </a:solidFill>
              </a:rPr>
              <a:t>▸</a:t>
            </a:r>
            <a:endParaRPr lang="en-US" sz="784" dirty="0"/>
          </a:p>
        </p:txBody>
      </p:sp>
      <p:sp>
        <p:nvSpPr>
          <p:cNvPr id="23" name="Text 19"/>
          <p:cNvSpPr/>
          <p:nvPr/>
        </p:nvSpPr>
        <p:spPr>
          <a:xfrm>
            <a:off x="4857750" y="2048805"/>
            <a:ext cx="3857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Seguridad</a:t>
            </a:r>
            <a:endParaRPr lang="en-US" sz="634" dirty="0"/>
          </a:p>
        </p:txBody>
      </p:sp>
      <p:sp>
        <p:nvSpPr>
          <p:cNvPr id="24" name="Text 20"/>
          <p:cNvSpPr/>
          <p:nvPr/>
        </p:nvSpPr>
        <p:spPr>
          <a:xfrm>
            <a:off x="4857750" y="2197038"/>
            <a:ext cx="38576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Verificar autenticación y cumplimiento de estándares PCI DSS.</a:t>
            </a:r>
            <a:endParaRPr lang="en-US" sz="621" dirty="0"/>
          </a:p>
        </p:txBody>
      </p:sp>
      <p:sp>
        <p:nvSpPr>
          <p:cNvPr id="25" name="Text 21"/>
          <p:cNvSpPr/>
          <p:nvPr/>
        </p:nvSpPr>
        <p:spPr>
          <a:xfrm>
            <a:off x="4714875" y="2402756"/>
            <a:ext cx="57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4AF37"/>
                </a:solidFill>
              </a:rPr>
              <a:t>▸</a:t>
            </a:r>
            <a:endParaRPr lang="en-US" sz="784" dirty="0"/>
          </a:p>
        </p:txBody>
      </p:sp>
      <p:sp>
        <p:nvSpPr>
          <p:cNvPr id="26" name="Text 22"/>
          <p:cNvSpPr/>
          <p:nvPr/>
        </p:nvSpPr>
        <p:spPr>
          <a:xfrm>
            <a:off x="4857750" y="2402756"/>
            <a:ext cx="3857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Compatibilidad</a:t>
            </a:r>
            <a:endParaRPr lang="en-US" sz="634" dirty="0"/>
          </a:p>
        </p:txBody>
      </p:sp>
      <p:sp>
        <p:nvSpPr>
          <p:cNvPr id="27" name="Text 23"/>
          <p:cNvSpPr/>
          <p:nvPr/>
        </p:nvSpPr>
        <p:spPr>
          <a:xfrm>
            <a:off x="4857750" y="2550988"/>
            <a:ext cx="38576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Confirmar visualización en diferentes dispositivos y navegadores.</a:t>
            </a:r>
            <a:endParaRPr lang="en-US" sz="621" dirty="0"/>
          </a:p>
        </p:txBody>
      </p:sp>
      <p:sp>
        <p:nvSpPr>
          <p:cNvPr id="28" name="Text 24"/>
          <p:cNvSpPr/>
          <p:nvPr/>
        </p:nvSpPr>
        <p:spPr>
          <a:xfrm>
            <a:off x="4714875" y="2756706"/>
            <a:ext cx="571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4AF37"/>
                </a:solidFill>
              </a:rPr>
              <a:t>▸</a:t>
            </a:r>
            <a:endParaRPr lang="en-US" sz="784" dirty="0"/>
          </a:p>
        </p:txBody>
      </p:sp>
      <p:sp>
        <p:nvSpPr>
          <p:cNvPr id="29" name="Text 25"/>
          <p:cNvSpPr/>
          <p:nvPr/>
        </p:nvSpPr>
        <p:spPr>
          <a:xfrm>
            <a:off x="4857750" y="2756706"/>
            <a:ext cx="38576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Rendimiento &amp; Regresión</a:t>
            </a:r>
            <a:endParaRPr lang="en-US" sz="634" dirty="0"/>
          </a:p>
        </p:txBody>
      </p:sp>
      <p:sp>
        <p:nvSpPr>
          <p:cNvPr id="30" name="Text 26"/>
          <p:cNvSpPr/>
          <p:nvPr/>
        </p:nvSpPr>
        <p:spPr>
          <a:xfrm>
            <a:off x="4857750" y="2904939"/>
            <a:ext cx="3857625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Velocidad de carga y asegurar que cambios no rompan funciones.</a:t>
            </a:r>
            <a:endParaRPr lang="en-US" sz="621" dirty="0"/>
          </a:p>
        </p:txBody>
      </p:sp>
      <p:sp>
        <p:nvSpPr>
          <p:cNvPr id="31" name="Shape 27"/>
          <p:cNvSpPr/>
          <p:nvPr/>
        </p:nvSpPr>
        <p:spPr>
          <a:xfrm>
            <a:off x="428625" y="3717875"/>
            <a:ext cx="8286750" cy="23753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Shape 28"/>
          <p:cNvSpPr/>
          <p:nvPr/>
        </p:nvSpPr>
        <p:spPr>
          <a:xfrm>
            <a:off x="428625" y="3717875"/>
            <a:ext cx="8286750" cy="1428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29"/>
          <p:cNvSpPr/>
          <p:nvPr/>
        </p:nvSpPr>
        <p:spPr>
          <a:xfrm>
            <a:off x="428625" y="3717875"/>
            <a:ext cx="8286750" cy="23753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i="1" dirty="0">
                <a:solidFill>
                  <a:srgbClr val="C41E3A"/>
                </a:solidFill>
              </a:rPr>
              <a:t>Continuación:</a:t>
            </a:r>
            <a:r>
              <a:rPr lang="en-US" sz="621" i="1" dirty="0">
                <a:solidFill>
                  <a:srgbClr val="2C2C2C"/>
                </a:solidFill>
              </a:rPr>
              <a:t> La siguiente diapositiva cubrirá las técnicas de pruebas utilizadas (Caja Negra, Caja Blanca, Basadas en Riesgos) y los roles y responsabilidades del equipo de desarrollo y testing.</a:t>
            </a:r>
            <a:endParaRPr lang="en-US" sz="5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602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768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884039"/>
            <a:ext cx="8286750" cy="21431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73273"/>
            <a:ext cx="20002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1525" y="428625"/>
            <a:ext cx="3049098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Técnicas y Roles de Pruebas</a:t>
            </a:r>
            <a:endParaRPr lang="en-US" sz="1602" dirty="0"/>
          </a:p>
        </p:txBody>
      </p:sp>
      <p:sp>
        <p:nvSpPr>
          <p:cNvPr id="7" name="Text 3"/>
          <p:cNvSpPr/>
          <p:nvPr/>
        </p:nvSpPr>
        <p:spPr>
          <a:xfrm>
            <a:off x="428625" y="1134070"/>
            <a:ext cx="8286750" cy="24110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1A1A1A"/>
                </a:solidFill>
              </a:rPr>
              <a:t>Técnicas Utilizadas</a:t>
            </a:r>
            <a:endParaRPr lang="en-US" sz="784" dirty="0"/>
          </a:p>
        </p:txBody>
      </p:sp>
      <p:sp>
        <p:nvSpPr>
          <p:cNvPr id="8" name="Shape 4"/>
          <p:cNvSpPr/>
          <p:nvPr/>
        </p:nvSpPr>
        <p:spPr>
          <a:xfrm>
            <a:off x="428625" y="1482328"/>
            <a:ext cx="2619384" cy="62396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5"/>
          <p:cNvSpPr/>
          <p:nvPr/>
        </p:nvSpPr>
        <p:spPr>
          <a:xfrm>
            <a:off x="428625" y="1482328"/>
            <a:ext cx="21431" cy="623962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6"/>
          <p:cNvSpPr/>
          <p:nvPr/>
        </p:nvSpPr>
        <p:spPr>
          <a:xfrm>
            <a:off x="535781" y="1589484"/>
            <a:ext cx="23907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Caja Negra</a:t>
            </a:r>
            <a:endParaRPr lang="en-US" sz="634" dirty="0"/>
          </a:p>
        </p:txBody>
      </p:sp>
      <p:sp>
        <p:nvSpPr>
          <p:cNvPr id="11" name="Text 7"/>
          <p:cNvSpPr/>
          <p:nvPr/>
        </p:nvSpPr>
        <p:spPr>
          <a:xfrm>
            <a:off x="535781" y="1759148"/>
            <a:ext cx="2390784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Aplicada a interfaces (App móvil y Web Admin) para verificar el cumplimiento de requisitos funcionales.</a:t>
            </a:r>
            <a:endParaRPr lang="en-US" sz="621" dirty="0"/>
          </a:p>
        </p:txBody>
      </p:sp>
      <p:sp>
        <p:nvSpPr>
          <p:cNvPr id="12" name="Shape 8"/>
          <p:cNvSpPr/>
          <p:nvPr/>
        </p:nvSpPr>
        <p:spPr>
          <a:xfrm>
            <a:off x="3248034" y="1482328"/>
            <a:ext cx="2626528" cy="62396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9"/>
          <p:cNvSpPr/>
          <p:nvPr/>
        </p:nvSpPr>
        <p:spPr>
          <a:xfrm>
            <a:off x="3248034" y="1482328"/>
            <a:ext cx="21431" cy="623962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10"/>
          <p:cNvSpPr/>
          <p:nvPr/>
        </p:nvSpPr>
        <p:spPr>
          <a:xfrm>
            <a:off x="3362334" y="1589484"/>
            <a:ext cx="239792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Caja Blanca</a:t>
            </a:r>
            <a:endParaRPr lang="en-US" sz="634" dirty="0"/>
          </a:p>
        </p:txBody>
      </p:sp>
      <p:sp>
        <p:nvSpPr>
          <p:cNvPr id="15" name="Text 11"/>
          <p:cNvSpPr/>
          <p:nvPr/>
        </p:nvSpPr>
        <p:spPr>
          <a:xfrm>
            <a:off x="3362334" y="1759148"/>
            <a:ext cx="239792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Utilizada para Pruebas Unitarias de la lógica interna de microservicios.</a:t>
            </a:r>
            <a:endParaRPr lang="en-US" sz="621" dirty="0"/>
          </a:p>
        </p:txBody>
      </p:sp>
      <p:sp>
        <p:nvSpPr>
          <p:cNvPr id="16" name="Shape 12"/>
          <p:cNvSpPr/>
          <p:nvPr/>
        </p:nvSpPr>
        <p:spPr>
          <a:xfrm>
            <a:off x="6081731" y="1482328"/>
            <a:ext cx="2633672" cy="62396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3"/>
          <p:cNvSpPr/>
          <p:nvPr/>
        </p:nvSpPr>
        <p:spPr>
          <a:xfrm>
            <a:off x="6081731" y="1482328"/>
            <a:ext cx="21431" cy="623962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4"/>
          <p:cNvSpPr/>
          <p:nvPr/>
        </p:nvSpPr>
        <p:spPr>
          <a:xfrm>
            <a:off x="6203175" y="1589484"/>
            <a:ext cx="240507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Basadas en Riesgos</a:t>
            </a:r>
            <a:endParaRPr lang="en-US" sz="634" dirty="0"/>
          </a:p>
        </p:txBody>
      </p:sp>
      <p:sp>
        <p:nvSpPr>
          <p:cNvPr id="19" name="Text 15"/>
          <p:cNvSpPr/>
          <p:nvPr/>
        </p:nvSpPr>
        <p:spPr>
          <a:xfrm>
            <a:off x="6203175" y="1759148"/>
            <a:ext cx="2405072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Priorizando módulos críticos como Pagos/Transbank y Seguridad/Autenticación.</a:t>
            </a:r>
            <a:endParaRPr lang="en-US" sz="621" dirty="0"/>
          </a:p>
        </p:txBody>
      </p:sp>
      <p:sp>
        <p:nvSpPr>
          <p:cNvPr id="20" name="Text 16"/>
          <p:cNvSpPr/>
          <p:nvPr/>
        </p:nvSpPr>
        <p:spPr>
          <a:xfrm>
            <a:off x="428625" y="2763515"/>
            <a:ext cx="8286750" cy="24110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1A1A1A"/>
                </a:solidFill>
              </a:rPr>
              <a:t>Roles y Responsabilidades</a:t>
            </a:r>
            <a:endParaRPr lang="en-US" sz="784" dirty="0"/>
          </a:p>
        </p:txBody>
      </p:sp>
      <p:sp>
        <p:nvSpPr>
          <p:cNvPr id="21" name="Shape 17"/>
          <p:cNvSpPr/>
          <p:nvPr/>
        </p:nvSpPr>
        <p:spPr>
          <a:xfrm>
            <a:off x="428625" y="3111773"/>
            <a:ext cx="2582633" cy="28753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18"/>
          <p:cNvSpPr/>
          <p:nvPr/>
        </p:nvSpPr>
        <p:spPr>
          <a:xfrm>
            <a:off x="428625" y="3111773"/>
            <a:ext cx="2582633" cy="28753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Rol</a:t>
            </a:r>
            <a:endParaRPr lang="en-US" sz="584" dirty="0"/>
          </a:p>
        </p:txBody>
      </p:sp>
      <p:sp>
        <p:nvSpPr>
          <p:cNvPr id="23" name="Shape 19"/>
          <p:cNvSpPr/>
          <p:nvPr/>
        </p:nvSpPr>
        <p:spPr>
          <a:xfrm>
            <a:off x="3011258" y="3111773"/>
            <a:ext cx="5704117" cy="28753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0"/>
          <p:cNvSpPr/>
          <p:nvPr/>
        </p:nvSpPr>
        <p:spPr>
          <a:xfrm>
            <a:off x="3011258" y="3111773"/>
            <a:ext cx="5704117" cy="287536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Responsabilidades</a:t>
            </a:r>
            <a:endParaRPr lang="en-US" sz="584" dirty="0"/>
          </a:p>
        </p:txBody>
      </p:sp>
      <p:sp>
        <p:nvSpPr>
          <p:cNvPr id="25" name="Text 21"/>
          <p:cNvSpPr/>
          <p:nvPr/>
        </p:nvSpPr>
        <p:spPr>
          <a:xfrm>
            <a:off x="514350" y="3485034"/>
            <a:ext cx="57747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Martín Salas</a:t>
            </a:r>
            <a:endParaRPr lang="en-US" sz="634" dirty="0"/>
          </a:p>
        </p:txBody>
      </p:sp>
      <p:sp>
        <p:nvSpPr>
          <p:cNvPr id="26" name="Text 22"/>
          <p:cNvSpPr/>
          <p:nvPr/>
        </p:nvSpPr>
        <p:spPr>
          <a:xfrm>
            <a:off x="514350" y="3627909"/>
            <a:ext cx="864019" cy="862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59" dirty="0" err="1">
                <a:solidFill>
                  <a:srgbClr val="2C2C2C"/>
                </a:solidFill>
              </a:rPr>
              <a:t>Desarrollador</a:t>
            </a:r>
            <a:r>
              <a:rPr lang="en-US" sz="559" dirty="0">
                <a:solidFill>
                  <a:srgbClr val="2C2C2C"/>
                </a:solidFill>
              </a:rPr>
              <a:t> y Tester Mobile</a:t>
            </a:r>
            <a:endParaRPr lang="en-US" sz="559" dirty="0"/>
          </a:p>
        </p:txBody>
      </p:sp>
      <p:sp>
        <p:nvSpPr>
          <p:cNvPr id="27" name="Text 23"/>
          <p:cNvSpPr/>
          <p:nvPr/>
        </p:nvSpPr>
        <p:spPr>
          <a:xfrm>
            <a:off x="3011258" y="3399309"/>
            <a:ext cx="5704117" cy="428625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Creación y testeo de la aplicación móvil (Ionic/Angular)</a:t>
            </a:r>
            <a:endParaRPr lang="en-US" sz="674" dirty="0"/>
          </a:p>
        </p:txBody>
      </p:sp>
      <p:sp>
        <p:nvSpPr>
          <p:cNvPr id="28" name="Shape 24"/>
          <p:cNvSpPr/>
          <p:nvPr/>
        </p:nvSpPr>
        <p:spPr>
          <a:xfrm>
            <a:off x="428625" y="3827934"/>
            <a:ext cx="8286750" cy="43219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5"/>
          <p:cNvSpPr/>
          <p:nvPr/>
        </p:nvSpPr>
        <p:spPr>
          <a:xfrm>
            <a:off x="514350" y="3917231"/>
            <a:ext cx="71510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Felipe González</a:t>
            </a:r>
            <a:endParaRPr lang="en-US" sz="634" dirty="0"/>
          </a:p>
        </p:txBody>
      </p:sp>
      <p:sp>
        <p:nvSpPr>
          <p:cNvPr id="30" name="Text 26"/>
          <p:cNvSpPr/>
          <p:nvPr/>
        </p:nvSpPr>
        <p:spPr>
          <a:xfrm>
            <a:off x="514350" y="4060106"/>
            <a:ext cx="98282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59" dirty="0">
                <a:solidFill>
                  <a:srgbClr val="2C2C2C"/>
                </a:solidFill>
              </a:rPr>
              <a:t>Desarrollador y Tester Web</a:t>
            </a:r>
            <a:endParaRPr lang="en-US" sz="559" dirty="0"/>
          </a:p>
        </p:txBody>
      </p:sp>
      <p:sp>
        <p:nvSpPr>
          <p:cNvPr id="31" name="Text 27"/>
          <p:cNvSpPr/>
          <p:nvPr/>
        </p:nvSpPr>
        <p:spPr>
          <a:xfrm>
            <a:off x="3011258" y="3827934"/>
            <a:ext cx="5704117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Creación y testeo de la página web (Django)</a:t>
            </a:r>
            <a:endParaRPr lang="en-US" sz="674" dirty="0"/>
          </a:p>
        </p:txBody>
      </p:sp>
      <p:sp>
        <p:nvSpPr>
          <p:cNvPr id="32" name="Text 28"/>
          <p:cNvSpPr/>
          <p:nvPr/>
        </p:nvSpPr>
        <p:spPr>
          <a:xfrm>
            <a:off x="514350" y="4349428"/>
            <a:ext cx="7349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Dylan Quiñones</a:t>
            </a:r>
            <a:endParaRPr lang="en-US" sz="634" dirty="0"/>
          </a:p>
        </p:txBody>
      </p:sp>
      <p:sp>
        <p:nvSpPr>
          <p:cNvPr id="33" name="Text 29"/>
          <p:cNvSpPr/>
          <p:nvPr/>
        </p:nvSpPr>
        <p:spPr>
          <a:xfrm>
            <a:off x="514350" y="4492303"/>
            <a:ext cx="98282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59" dirty="0">
                <a:solidFill>
                  <a:srgbClr val="2C2C2C"/>
                </a:solidFill>
              </a:rPr>
              <a:t>Desarrollador y Tester Web</a:t>
            </a:r>
            <a:endParaRPr lang="en-US" sz="559" dirty="0"/>
          </a:p>
        </p:txBody>
      </p:sp>
      <p:sp>
        <p:nvSpPr>
          <p:cNvPr id="34" name="Text 30"/>
          <p:cNvSpPr/>
          <p:nvPr/>
        </p:nvSpPr>
        <p:spPr>
          <a:xfrm>
            <a:off x="3011258" y="4260131"/>
            <a:ext cx="5704117" cy="43219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Creación y testeo de la página web (Django)</a:t>
            </a:r>
            <a:endParaRPr lang="en-US" sz="67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768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884039"/>
            <a:ext cx="8286750" cy="21431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73273"/>
            <a:ext cx="1714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2950" y="428625"/>
            <a:ext cx="316105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Testeo de la Aplicación Móvil</a:t>
            </a:r>
            <a:endParaRPr lang="en-US" sz="160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244" y="1169789"/>
            <a:ext cx="2143125" cy="1428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14738" y="1169789"/>
            <a:ext cx="51006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C41E3A"/>
                </a:solidFill>
              </a:rPr>
              <a:t>Enfoque de Testeo</a:t>
            </a:r>
            <a:endParaRPr lang="en-US" sz="683" dirty="0"/>
          </a:p>
        </p:txBody>
      </p:sp>
      <p:sp>
        <p:nvSpPr>
          <p:cNvPr id="9" name="Text 4"/>
          <p:cNvSpPr/>
          <p:nvPr/>
        </p:nvSpPr>
        <p:spPr>
          <a:xfrm>
            <a:off x="3614738" y="1376958"/>
            <a:ext cx="510063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Se aplicaron </a:t>
            </a:r>
            <a:r>
              <a:rPr lang="en-US" sz="634" b="1" dirty="0">
                <a:solidFill>
                  <a:srgbClr val="C41E3A"/>
                </a:solidFill>
              </a:rPr>
              <a:t>pruebas funcionales, de validación, integración y UI</a:t>
            </a:r>
            <a:r>
              <a:rPr lang="en-US" sz="674" dirty="0">
                <a:solidFill>
                  <a:srgbClr val="2C2C2C"/>
                </a:solidFill>
              </a:rPr>
              <a:t> para asegurar el correcto funcionamiento de la app (desarrollada en </a:t>
            </a:r>
            <a:r>
              <a:rPr lang="en-US" sz="634" b="1" dirty="0">
                <a:solidFill>
                  <a:srgbClr val="C41E3A"/>
                </a:solidFill>
              </a:rPr>
              <a:t>Ionic/Angular</a:t>
            </a:r>
            <a:r>
              <a:rPr lang="en-US" sz="674" dirty="0">
                <a:solidFill>
                  <a:srgbClr val="2C2C2C"/>
                </a:solidFill>
              </a:rPr>
              <a:t>) en iOS y Android.</a:t>
            </a:r>
            <a:endParaRPr lang="en-US" sz="674" dirty="0"/>
          </a:p>
        </p:txBody>
      </p:sp>
      <p:sp>
        <p:nvSpPr>
          <p:cNvPr id="10" name="Text 5"/>
          <p:cNvSpPr/>
          <p:nvPr/>
        </p:nvSpPr>
        <p:spPr>
          <a:xfrm>
            <a:off x="3614738" y="1974131"/>
            <a:ext cx="51006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C41E3A"/>
                </a:solidFill>
              </a:rPr>
              <a:t>Tipos de Pruebas Aplicadas</a:t>
            </a:r>
            <a:endParaRPr lang="en-US" sz="683" dirty="0"/>
          </a:p>
        </p:txBody>
      </p:sp>
      <p:sp>
        <p:nvSpPr>
          <p:cNvPr id="11" name="Text 6"/>
          <p:cNvSpPr/>
          <p:nvPr/>
        </p:nvSpPr>
        <p:spPr>
          <a:xfrm>
            <a:off x="3614738" y="2181299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▸</a:t>
            </a:r>
            <a:endParaRPr lang="en-US" sz="634" dirty="0"/>
          </a:p>
        </p:txBody>
      </p:sp>
      <p:sp>
        <p:nvSpPr>
          <p:cNvPr id="12" name="Text 7"/>
          <p:cNvSpPr/>
          <p:nvPr/>
        </p:nvSpPr>
        <p:spPr>
          <a:xfrm>
            <a:off x="3793331" y="2181299"/>
            <a:ext cx="5795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Funcionales:</a:t>
            </a:r>
            <a:endParaRPr lang="en-US" sz="634" dirty="0"/>
          </a:p>
        </p:txBody>
      </p:sp>
      <p:sp>
        <p:nvSpPr>
          <p:cNvPr id="13" name="Text 8"/>
          <p:cNvSpPr/>
          <p:nvPr/>
        </p:nvSpPr>
        <p:spPr>
          <a:xfrm>
            <a:off x="4372840" y="2181299"/>
            <a:ext cx="21074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Validar flujos de usuario y funcionalidades clave</a:t>
            </a:r>
            <a:endParaRPr lang="en-US" sz="674" dirty="0"/>
          </a:p>
        </p:txBody>
      </p:sp>
      <p:sp>
        <p:nvSpPr>
          <p:cNvPr id="14" name="Text 9"/>
          <p:cNvSpPr/>
          <p:nvPr/>
        </p:nvSpPr>
        <p:spPr>
          <a:xfrm>
            <a:off x="3614738" y="2350963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▸</a:t>
            </a:r>
            <a:endParaRPr lang="en-US" sz="634" dirty="0"/>
          </a:p>
        </p:txBody>
      </p:sp>
      <p:sp>
        <p:nvSpPr>
          <p:cNvPr id="15" name="Text 10"/>
          <p:cNvSpPr/>
          <p:nvPr/>
        </p:nvSpPr>
        <p:spPr>
          <a:xfrm>
            <a:off x="3793331" y="2350963"/>
            <a:ext cx="5071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Validación:</a:t>
            </a:r>
            <a:endParaRPr lang="en-US" sz="634" dirty="0"/>
          </a:p>
        </p:txBody>
      </p:sp>
      <p:sp>
        <p:nvSpPr>
          <p:cNvPr id="16" name="Text 11"/>
          <p:cNvSpPr/>
          <p:nvPr/>
        </p:nvSpPr>
        <p:spPr>
          <a:xfrm>
            <a:off x="4300510" y="2350963"/>
            <a:ext cx="189638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Verificar campos y restricciones de entrada</a:t>
            </a:r>
            <a:endParaRPr lang="en-US" sz="674" dirty="0"/>
          </a:p>
        </p:txBody>
      </p:sp>
      <p:sp>
        <p:nvSpPr>
          <p:cNvPr id="17" name="Text 12"/>
          <p:cNvSpPr/>
          <p:nvPr/>
        </p:nvSpPr>
        <p:spPr>
          <a:xfrm>
            <a:off x="3614738" y="2520628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▸</a:t>
            </a:r>
            <a:endParaRPr lang="en-US" sz="634" dirty="0"/>
          </a:p>
        </p:txBody>
      </p:sp>
      <p:sp>
        <p:nvSpPr>
          <p:cNvPr id="18" name="Text 13"/>
          <p:cNvSpPr/>
          <p:nvPr/>
        </p:nvSpPr>
        <p:spPr>
          <a:xfrm>
            <a:off x="3793331" y="2520628"/>
            <a:ext cx="56857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Integración:</a:t>
            </a:r>
            <a:endParaRPr lang="en-US" sz="634" dirty="0"/>
          </a:p>
        </p:txBody>
      </p:sp>
      <p:sp>
        <p:nvSpPr>
          <p:cNvPr id="19" name="Text 14"/>
          <p:cNvSpPr/>
          <p:nvPr/>
        </p:nvSpPr>
        <p:spPr>
          <a:xfrm>
            <a:off x="4361901" y="2520628"/>
            <a:ext cx="173665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Probar integraciones con APIs externas</a:t>
            </a:r>
            <a:endParaRPr lang="en-US" sz="674" dirty="0"/>
          </a:p>
        </p:txBody>
      </p:sp>
      <p:sp>
        <p:nvSpPr>
          <p:cNvPr id="20" name="Text 15"/>
          <p:cNvSpPr/>
          <p:nvPr/>
        </p:nvSpPr>
        <p:spPr>
          <a:xfrm>
            <a:off x="3614738" y="2690292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▸</a:t>
            </a:r>
            <a:endParaRPr lang="en-US" sz="634" dirty="0"/>
          </a:p>
        </p:txBody>
      </p:sp>
      <p:sp>
        <p:nvSpPr>
          <p:cNvPr id="21" name="Text 16"/>
          <p:cNvSpPr/>
          <p:nvPr/>
        </p:nvSpPr>
        <p:spPr>
          <a:xfrm>
            <a:off x="3793331" y="2690292"/>
            <a:ext cx="6464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UI/Interfaces:</a:t>
            </a:r>
            <a:endParaRPr lang="en-US" sz="634" dirty="0"/>
          </a:p>
        </p:txBody>
      </p:sp>
      <p:sp>
        <p:nvSpPr>
          <p:cNvPr id="22" name="Text 17"/>
          <p:cNvSpPr/>
          <p:nvPr/>
        </p:nvSpPr>
        <p:spPr>
          <a:xfrm>
            <a:off x="4439813" y="2690292"/>
            <a:ext cx="204992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Asegurar visualización correcta en dispositivos</a:t>
            </a:r>
            <a:endParaRPr lang="en-US" sz="674" dirty="0"/>
          </a:p>
        </p:txBody>
      </p:sp>
      <p:sp>
        <p:nvSpPr>
          <p:cNvPr id="23" name="Text 18"/>
          <p:cNvSpPr/>
          <p:nvPr/>
        </p:nvSpPr>
        <p:spPr>
          <a:xfrm>
            <a:off x="3614738" y="3117131"/>
            <a:ext cx="51006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C41E3A"/>
                </a:solidFill>
              </a:rPr>
              <a:t>Casos de Prueba Realizados</a:t>
            </a:r>
            <a:endParaRPr lang="en-US" sz="683" dirty="0"/>
          </a:p>
        </p:txBody>
      </p:sp>
      <p:sp>
        <p:nvSpPr>
          <p:cNvPr id="24" name="Text 19"/>
          <p:cNvSpPr/>
          <p:nvPr/>
        </p:nvSpPr>
        <p:spPr>
          <a:xfrm>
            <a:off x="3614738" y="3324299"/>
            <a:ext cx="5100638" cy="29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A continuación, se </a:t>
            </a:r>
            <a:r>
              <a:rPr lang="en-US" sz="674" dirty="0" err="1">
                <a:solidFill>
                  <a:srgbClr val="2C2C2C"/>
                </a:solidFill>
              </a:rPr>
              <a:t>detallan</a:t>
            </a:r>
            <a:r>
              <a:rPr lang="en-US" sz="674" dirty="0">
                <a:solidFill>
                  <a:srgbClr val="2C2C2C"/>
                </a:solidFill>
              </a:rPr>
              <a:t> </a:t>
            </a:r>
            <a:r>
              <a:rPr lang="en-US" sz="674" dirty="0" err="1">
                <a:solidFill>
                  <a:srgbClr val="2C2C2C"/>
                </a:solidFill>
              </a:rPr>
              <a:t>algunos</a:t>
            </a:r>
            <a:r>
              <a:rPr lang="en-US" sz="634" b="1" dirty="0">
                <a:solidFill>
                  <a:srgbClr val="C41E3A"/>
                </a:solidFill>
              </a:rPr>
              <a:t> casos de prueba</a:t>
            </a:r>
            <a:r>
              <a:rPr lang="en-US" sz="674" dirty="0">
                <a:solidFill>
                  <a:srgbClr val="2C2C2C"/>
                </a:solidFill>
              </a:rPr>
              <a:t> extraídos de los documentos, con descripciones, tipos, resultados esperados y finales. Las pruebas cubren autenticación, agendamiento de citas, gestión de carrito y funcionalidades de usuario.</a:t>
            </a:r>
            <a:endParaRPr lang="en-US" sz="67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4112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848320"/>
            <a:ext cx="8286750" cy="21431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73273"/>
            <a:ext cx="1714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2950" y="428625"/>
            <a:ext cx="3619286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Casos de Prueba - App Móvil (1-7)</a:t>
            </a:r>
            <a:endParaRPr lang="en-US" sz="1602" dirty="0"/>
          </a:p>
        </p:txBody>
      </p:sp>
      <p:sp>
        <p:nvSpPr>
          <p:cNvPr id="7" name="Shape 3"/>
          <p:cNvSpPr/>
          <p:nvPr/>
        </p:nvSpPr>
        <p:spPr>
          <a:xfrm>
            <a:off x="428625" y="1062633"/>
            <a:ext cx="5586413" cy="2857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4"/>
          <p:cNvSpPr/>
          <p:nvPr/>
        </p:nvSpPr>
        <p:spPr>
          <a:xfrm>
            <a:off x="428625" y="1062633"/>
            <a:ext cx="285750" cy="285750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N°</a:t>
            </a:r>
            <a:endParaRPr lang="en-US" sz="534" dirty="0"/>
          </a:p>
        </p:txBody>
      </p:sp>
      <p:sp>
        <p:nvSpPr>
          <p:cNvPr id="9" name="Text 5"/>
          <p:cNvSpPr/>
          <p:nvPr/>
        </p:nvSpPr>
        <p:spPr>
          <a:xfrm>
            <a:off x="714375" y="1062633"/>
            <a:ext cx="3123186" cy="285750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Descripción</a:t>
            </a:r>
            <a:endParaRPr lang="en-US" sz="534" dirty="0"/>
          </a:p>
        </p:txBody>
      </p:sp>
      <p:sp>
        <p:nvSpPr>
          <p:cNvPr id="10" name="Text 6"/>
          <p:cNvSpPr/>
          <p:nvPr/>
        </p:nvSpPr>
        <p:spPr>
          <a:xfrm>
            <a:off x="3837561" y="1062633"/>
            <a:ext cx="1121708" cy="285750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Tipo</a:t>
            </a:r>
            <a:endParaRPr lang="en-US" sz="534" dirty="0"/>
          </a:p>
        </p:txBody>
      </p:sp>
      <p:sp>
        <p:nvSpPr>
          <p:cNvPr id="11" name="Text 7"/>
          <p:cNvSpPr/>
          <p:nvPr/>
        </p:nvSpPr>
        <p:spPr>
          <a:xfrm>
            <a:off x="4959269" y="1062633"/>
            <a:ext cx="1055768" cy="285750"/>
          </a:xfrm>
          <a:prstGeom prst="rect">
            <a:avLst/>
          </a:prstGeom>
          <a:noFill/>
          <a:ln/>
        </p:spPr>
        <p:txBody>
          <a:bodyPr wrap="square" lIns="68072" tIns="102108" rIns="68072" bIns="102108" rtlCol="0" anchor="ctr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Resultado</a:t>
            </a:r>
            <a:endParaRPr lang="en-US" sz="534" dirty="0"/>
          </a:p>
        </p:txBody>
      </p:sp>
      <p:sp>
        <p:nvSpPr>
          <p:cNvPr id="12" name="Text 8"/>
          <p:cNvSpPr/>
          <p:nvPr/>
        </p:nvSpPr>
        <p:spPr>
          <a:xfrm>
            <a:off x="428625" y="1348383"/>
            <a:ext cx="285750" cy="29468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C2C2C"/>
                </a:solidFill>
              </a:rPr>
              <a:t>1</a:t>
            </a:r>
            <a:endParaRPr lang="en-US" sz="584" dirty="0"/>
          </a:p>
        </p:txBody>
      </p:sp>
      <p:sp>
        <p:nvSpPr>
          <p:cNvPr id="13" name="Text 9"/>
          <p:cNvSpPr/>
          <p:nvPr/>
        </p:nvSpPr>
        <p:spPr>
          <a:xfrm>
            <a:off x="714375" y="1348383"/>
            <a:ext cx="3123186" cy="294680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Inicio de sesión con credenciales válidas</a:t>
            </a:r>
            <a:endParaRPr lang="en-US" sz="621" dirty="0"/>
          </a:p>
        </p:txBody>
      </p:sp>
      <p:sp>
        <p:nvSpPr>
          <p:cNvPr id="14" name="Shape 10"/>
          <p:cNvSpPr/>
          <p:nvPr/>
        </p:nvSpPr>
        <p:spPr>
          <a:xfrm>
            <a:off x="3894711" y="1426964"/>
            <a:ext cx="556292" cy="14108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1"/>
          <p:cNvSpPr/>
          <p:nvPr/>
        </p:nvSpPr>
        <p:spPr>
          <a:xfrm>
            <a:off x="3894711" y="1426964"/>
            <a:ext cx="21431" cy="141089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6" name="Text 12"/>
          <p:cNvSpPr/>
          <p:nvPr/>
        </p:nvSpPr>
        <p:spPr>
          <a:xfrm>
            <a:off x="3894711" y="1426964"/>
            <a:ext cx="556292" cy="14108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A1A1A"/>
                </a:solidFill>
              </a:rPr>
              <a:t>Funcional</a:t>
            </a:r>
            <a:endParaRPr lang="en-US" sz="485" dirty="0"/>
          </a:p>
        </p:txBody>
      </p:sp>
      <p:sp>
        <p:nvSpPr>
          <p:cNvPr id="17" name="Text 13"/>
          <p:cNvSpPr/>
          <p:nvPr/>
        </p:nvSpPr>
        <p:spPr>
          <a:xfrm>
            <a:off x="5016419" y="1444823"/>
            <a:ext cx="4154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D5016"/>
                </a:solidFill>
              </a:rPr>
              <a:t>✓ Positivo</a:t>
            </a:r>
            <a:endParaRPr lang="en-US" sz="584" dirty="0"/>
          </a:p>
        </p:txBody>
      </p:sp>
      <p:sp>
        <p:nvSpPr>
          <p:cNvPr id="18" name="Shape 14"/>
          <p:cNvSpPr/>
          <p:nvPr/>
        </p:nvSpPr>
        <p:spPr>
          <a:xfrm>
            <a:off x="428625" y="1643063"/>
            <a:ext cx="5586413" cy="29110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9" name="Text 15"/>
          <p:cNvSpPr/>
          <p:nvPr/>
        </p:nvSpPr>
        <p:spPr>
          <a:xfrm>
            <a:off x="428625" y="1643063"/>
            <a:ext cx="285750" cy="29110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C2C2C"/>
                </a:solidFill>
              </a:rPr>
              <a:t>2</a:t>
            </a:r>
            <a:endParaRPr lang="en-US" sz="584" dirty="0"/>
          </a:p>
        </p:txBody>
      </p:sp>
      <p:sp>
        <p:nvSpPr>
          <p:cNvPr id="20" name="Text 16"/>
          <p:cNvSpPr/>
          <p:nvPr/>
        </p:nvSpPr>
        <p:spPr>
          <a:xfrm>
            <a:off x="714375" y="1643063"/>
            <a:ext cx="3123186" cy="29110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Inicio de sesión con credenciales inválidas</a:t>
            </a:r>
            <a:endParaRPr lang="en-US" sz="621" dirty="0"/>
          </a:p>
        </p:txBody>
      </p:sp>
      <p:sp>
        <p:nvSpPr>
          <p:cNvPr id="21" name="Shape 17"/>
          <p:cNvSpPr/>
          <p:nvPr/>
        </p:nvSpPr>
        <p:spPr>
          <a:xfrm>
            <a:off x="3894711" y="1718072"/>
            <a:ext cx="574151" cy="14108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Shape 18"/>
          <p:cNvSpPr/>
          <p:nvPr/>
        </p:nvSpPr>
        <p:spPr>
          <a:xfrm>
            <a:off x="3894711" y="1718072"/>
            <a:ext cx="21431" cy="141089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Text 19"/>
          <p:cNvSpPr/>
          <p:nvPr/>
        </p:nvSpPr>
        <p:spPr>
          <a:xfrm>
            <a:off x="3894711" y="1718072"/>
            <a:ext cx="574151" cy="14108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A1A1A"/>
                </a:solidFill>
              </a:rPr>
              <a:t>Validación</a:t>
            </a:r>
            <a:endParaRPr lang="en-US" sz="485" dirty="0"/>
          </a:p>
        </p:txBody>
      </p:sp>
      <p:sp>
        <p:nvSpPr>
          <p:cNvPr id="24" name="Text 20"/>
          <p:cNvSpPr/>
          <p:nvPr/>
        </p:nvSpPr>
        <p:spPr>
          <a:xfrm>
            <a:off x="5016419" y="1735931"/>
            <a:ext cx="4154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D5016"/>
                </a:solidFill>
              </a:rPr>
              <a:t>✓ Positivo</a:t>
            </a:r>
            <a:endParaRPr lang="en-US" sz="584" dirty="0"/>
          </a:p>
        </p:txBody>
      </p:sp>
      <p:sp>
        <p:nvSpPr>
          <p:cNvPr id="25" name="Text 21"/>
          <p:cNvSpPr/>
          <p:nvPr/>
        </p:nvSpPr>
        <p:spPr>
          <a:xfrm>
            <a:off x="428625" y="1934170"/>
            <a:ext cx="285750" cy="29110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C2C2C"/>
                </a:solidFill>
              </a:rPr>
              <a:t>3</a:t>
            </a:r>
            <a:endParaRPr lang="en-US" sz="584" dirty="0"/>
          </a:p>
        </p:txBody>
      </p:sp>
      <p:sp>
        <p:nvSpPr>
          <p:cNvPr id="26" name="Text 22"/>
          <p:cNvSpPr/>
          <p:nvPr/>
        </p:nvSpPr>
        <p:spPr>
          <a:xfrm>
            <a:off x="714375" y="1934170"/>
            <a:ext cx="3123186" cy="29110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Validar campos vacíos en login</a:t>
            </a:r>
            <a:endParaRPr lang="en-US" sz="621" dirty="0"/>
          </a:p>
        </p:txBody>
      </p:sp>
      <p:sp>
        <p:nvSpPr>
          <p:cNvPr id="27" name="Shape 23"/>
          <p:cNvSpPr/>
          <p:nvPr/>
        </p:nvSpPr>
        <p:spPr>
          <a:xfrm>
            <a:off x="3894711" y="2009180"/>
            <a:ext cx="574151" cy="14108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Shape 24"/>
          <p:cNvSpPr/>
          <p:nvPr/>
        </p:nvSpPr>
        <p:spPr>
          <a:xfrm>
            <a:off x="3894711" y="2009180"/>
            <a:ext cx="21431" cy="141089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Text 25"/>
          <p:cNvSpPr/>
          <p:nvPr/>
        </p:nvSpPr>
        <p:spPr>
          <a:xfrm>
            <a:off x="3894711" y="2009180"/>
            <a:ext cx="574151" cy="14108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A1A1A"/>
                </a:solidFill>
              </a:rPr>
              <a:t>Validación</a:t>
            </a:r>
            <a:endParaRPr lang="en-US" sz="485" dirty="0"/>
          </a:p>
        </p:txBody>
      </p:sp>
      <p:sp>
        <p:nvSpPr>
          <p:cNvPr id="30" name="Text 26"/>
          <p:cNvSpPr/>
          <p:nvPr/>
        </p:nvSpPr>
        <p:spPr>
          <a:xfrm>
            <a:off x="5016419" y="2027039"/>
            <a:ext cx="4154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D5016"/>
                </a:solidFill>
              </a:rPr>
              <a:t>✓ Positivo</a:t>
            </a:r>
            <a:endParaRPr lang="en-US" sz="584" dirty="0"/>
          </a:p>
        </p:txBody>
      </p:sp>
      <p:sp>
        <p:nvSpPr>
          <p:cNvPr id="31" name="Shape 27"/>
          <p:cNvSpPr/>
          <p:nvPr/>
        </p:nvSpPr>
        <p:spPr>
          <a:xfrm>
            <a:off x="428625" y="2225278"/>
            <a:ext cx="5586413" cy="29110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Text 28"/>
          <p:cNvSpPr/>
          <p:nvPr/>
        </p:nvSpPr>
        <p:spPr>
          <a:xfrm>
            <a:off x="428625" y="2225278"/>
            <a:ext cx="285750" cy="29110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C2C2C"/>
                </a:solidFill>
              </a:rPr>
              <a:t>4</a:t>
            </a:r>
            <a:endParaRPr lang="en-US" sz="584" dirty="0"/>
          </a:p>
        </p:txBody>
      </p:sp>
      <p:sp>
        <p:nvSpPr>
          <p:cNvPr id="33" name="Text 29"/>
          <p:cNvSpPr/>
          <p:nvPr/>
        </p:nvSpPr>
        <p:spPr>
          <a:xfrm>
            <a:off x="714375" y="2225278"/>
            <a:ext cx="3123186" cy="29110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Recuperar contraseña con correo válido</a:t>
            </a:r>
            <a:endParaRPr lang="en-US" sz="621" dirty="0"/>
          </a:p>
        </p:txBody>
      </p:sp>
      <p:sp>
        <p:nvSpPr>
          <p:cNvPr id="34" name="Shape 30"/>
          <p:cNvSpPr/>
          <p:nvPr/>
        </p:nvSpPr>
        <p:spPr>
          <a:xfrm>
            <a:off x="3894711" y="2300288"/>
            <a:ext cx="556292" cy="14108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Shape 31"/>
          <p:cNvSpPr/>
          <p:nvPr/>
        </p:nvSpPr>
        <p:spPr>
          <a:xfrm>
            <a:off x="3894711" y="2300288"/>
            <a:ext cx="21431" cy="141089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Text 32"/>
          <p:cNvSpPr/>
          <p:nvPr/>
        </p:nvSpPr>
        <p:spPr>
          <a:xfrm>
            <a:off x="3894711" y="2300288"/>
            <a:ext cx="556292" cy="14108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A1A1A"/>
                </a:solidFill>
              </a:rPr>
              <a:t>Funcional</a:t>
            </a:r>
            <a:endParaRPr lang="en-US" sz="485" dirty="0"/>
          </a:p>
        </p:txBody>
      </p:sp>
      <p:sp>
        <p:nvSpPr>
          <p:cNvPr id="37" name="Text 33"/>
          <p:cNvSpPr/>
          <p:nvPr/>
        </p:nvSpPr>
        <p:spPr>
          <a:xfrm>
            <a:off x="5016419" y="2318147"/>
            <a:ext cx="53366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B8860B"/>
                </a:solidFill>
              </a:rPr>
              <a:t>⊘ Pendiente</a:t>
            </a:r>
            <a:endParaRPr lang="en-US" sz="584" dirty="0"/>
          </a:p>
        </p:txBody>
      </p:sp>
      <p:sp>
        <p:nvSpPr>
          <p:cNvPr id="38" name="Text 34"/>
          <p:cNvSpPr/>
          <p:nvPr/>
        </p:nvSpPr>
        <p:spPr>
          <a:xfrm>
            <a:off x="428625" y="2516386"/>
            <a:ext cx="285750" cy="29110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C2C2C"/>
                </a:solidFill>
              </a:rPr>
              <a:t>5</a:t>
            </a:r>
            <a:endParaRPr lang="en-US" sz="584" dirty="0"/>
          </a:p>
        </p:txBody>
      </p:sp>
      <p:sp>
        <p:nvSpPr>
          <p:cNvPr id="39" name="Text 35"/>
          <p:cNvSpPr/>
          <p:nvPr/>
        </p:nvSpPr>
        <p:spPr>
          <a:xfrm>
            <a:off x="714375" y="2516386"/>
            <a:ext cx="3123186" cy="29110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Recuperar contraseña con correo inexistente</a:t>
            </a:r>
            <a:endParaRPr lang="en-US" sz="621" dirty="0"/>
          </a:p>
        </p:txBody>
      </p:sp>
      <p:sp>
        <p:nvSpPr>
          <p:cNvPr id="40" name="Shape 36"/>
          <p:cNvSpPr/>
          <p:nvPr/>
        </p:nvSpPr>
        <p:spPr>
          <a:xfrm>
            <a:off x="3894711" y="2591395"/>
            <a:ext cx="574151" cy="14108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1" name="Shape 37"/>
          <p:cNvSpPr/>
          <p:nvPr/>
        </p:nvSpPr>
        <p:spPr>
          <a:xfrm>
            <a:off x="3894711" y="2591395"/>
            <a:ext cx="21431" cy="141089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38"/>
          <p:cNvSpPr/>
          <p:nvPr/>
        </p:nvSpPr>
        <p:spPr>
          <a:xfrm>
            <a:off x="3894711" y="2591395"/>
            <a:ext cx="574151" cy="14108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A1A1A"/>
                </a:solidFill>
              </a:rPr>
              <a:t>Validación</a:t>
            </a:r>
            <a:endParaRPr lang="en-US" sz="485" dirty="0"/>
          </a:p>
        </p:txBody>
      </p:sp>
      <p:sp>
        <p:nvSpPr>
          <p:cNvPr id="43" name="Text 39"/>
          <p:cNvSpPr/>
          <p:nvPr/>
        </p:nvSpPr>
        <p:spPr>
          <a:xfrm>
            <a:off x="5016419" y="2609255"/>
            <a:ext cx="53366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B8860B"/>
                </a:solidFill>
              </a:rPr>
              <a:t>⊘ Pendiente</a:t>
            </a:r>
            <a:endParaRPr lang="en-US" sz="584" dirty="0"/>
          </a:p>
        </p:txBody>
      </p:sp>
      <p:sp>
        <p:nvSpPr>
          <p:cNvPr id="44" name="Shape 40"/>
          <p:cNvSpPr/>
          <p:nvPr/>
        </p:nvSpPr>
        <p:spPr>
          <a:xfrm>
            <a:off x="428625" y="2807494"/>
            <a:ext cx="5586413" cy="291108"/>
          </a:xfrm>
          <a:prstGeom prst="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5" name="Text 41"/>
          <p:cNvSpPr/>
          <p:nvPr/>
        </p:nvSpPr>
        <p:spPr>
          <a:xfrm>
            <a:off x="428625" y="2807494"/>
            <a:ext cx="285750" cy="29110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C2C2C"/>
                </a:solidFill>
              </a:rPr>
              <a:t>6</a:t>
            </a:r>
            <a:endParaRPr lang="en-US" sz="584" dirty="0"/>
          </a:p>
        </p:txBody>
      </p:sp>
      <p:sp>
        <p:nvSpPr>
          <p:cNvPr id="46" name="Text 42"/>
          <p:cNvSpPr/>
          <p:nvPr/>
        </p:nvSpPr>
        <p:spPr>
          <a:xfrm>
            <a:off x="714375" y="2807494"/>
            <a:ext cx="3123186" cy="29110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Registro de nuevo usuario con datos válidos</a:t>
            </a:r>
            <a:endParaRPr lang="en-US" sz="621" dirty="0"/>
          </a:p>
        </p:txBody>
      </p:sp>
      <p:sp>
        <p:nvSpPr>
          <p:cNvPr id="47" name="Shape 43"/>
          <p:cNvSpPr/>
          <p:nvPr/>
        </p:nvSpPr>
        <p:spPr>
          <a:xfrm>
            <a:off x="3894711" y="2882503"/>
            <a:ext cx="556292" cy="14108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8" name="Shape 44"/>
          <p:cNvSpPr/>
          <p:nvPr/>
        </p:nvSpPr>
        <p:spPr>
          <a:xfrm>
            <a:off x="3894711" y="2882503"/>
            <a:ext cx="21431" cy="141089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9" name="Text 45"/>
          <p:cNvSpPr/>
          <p:nvPr/>
        </p:nvSpPr>
        <p:spPr>
          <a:xfrm>
            <a:off x="3894711" y="2882503"/>
            <a:ext cx="556292" cy="14108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A1A1A"/>
                </a:solidFill>
              </a:rPr>
              <a:t>Funcional</a:t>
            </a:r>
            <a:endParaRPr lang="en-US" sz="485" dirty="0"/>
          </a:p>
        </p:txBody>
      </p:sp>
      <p:sp>
        <p:nvSpPr>
          <p:cNvPr id="50" name="Text 46"/>
          <p:cNvSpPr/>
          <p:nvPr/>
        </p:nvSpPr>
        <p:spPr>
          <a:xfrm>
            <a:off x="5016419" y="2900363"/>
            <a:ext cx="4154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D5016"/>
                </a:solidFill>
              </a:rPr>
              <a:t>✓ Positivo</a:t>
            </a:r>
            <a:endParaRPr lang="en-US" sz="584" dirty="0"/>
          </a:p>
        </p:txBody>
      </p:sp>
      <p:sp>
        <p:nvSpPr>
          <p:cNvPr id="51" name="Text 47"/>
          <p:cNvSpPr/>
          <p:nvPr/>
        </p:nvSpPr>
        <p:spPr>
          <a:xfrm>
            <a:off x="428625" y="3098602"/>
            <a:ext cx="285750" cy="29110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C2C2C"/>
                </a:solidFill>
              </a:rPr>
              <a:t>7</a:t>
            </a:r>
            <a:endParaRPr lang="en-US" sz="584" dirty="0"/>
          </a:p>
        </p:txBody>
      </p:sp>
      <p:sp>
        <p:nvSpPr>
          <p:cNvPr id="52" name="Text 48"/>
          <p:cNvSpPr/>
          <p:nvPr/>
        </p:nvSpPr>
        <p:spPr>
          <a:xfrm>
            <a:off x="714375" y="3098602"/>
            <a:ext cx="3123186" cy="291108"/>
          </a:xfrm>
          <a:prstGeom prst="rect">
            <a:avLst/>
          </a:prstGeom>
          <a:noFill/>
          <a:ln/>
        </p:spPr>
        <p:txBody>
          <a:bodyPr wrap="square" lIns="68072" tIns="85090" rIns="68072" bIns="85090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Registro con contraseñas diferentes</a:t>
            </a:r>
            <a:endParaRPr lang="en-US" sz="621" dirty="0"/>
          </a:p>
        </p:txBody>
      </p:sp>
      <p:sp>
        <p:nvSpPr>
          <p:cNvPr id="53" name="Shape 49"/>
          <p:cNvSpPr/>
          <p:nvPr/>
        </p:nvSpPr>
        <p:spPr>
          <a:xfrm>
            <a:off x="3894711" y="3173611"/>
            <a:ext cx="574151" cy="141089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4" name="Shape 50"/>
          <p:cNvSpPr/>
          <p:nvPr/>
        </p:nvSpPr>
        <p:spPr>
          <a:xfrm>
            <a:off x="3894711" y="3173611"/>
            <a:ext cx="21431" cy="141089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5" name="Text 51"/>
          <p:cNvSpPr/>
          <p:nvPr/>
        </p:nvSpPr>
        <p:spPr>
          <a:xfrm>
            <a:off x="3894711" y="3173611"/>
            <a:ext cx="574151" cy="141089"/>
          </a:xfrm>
          <a:prstGeom prst="rect">
            <a:avLst/>
          </a:prstGeom>
          <a:noFill/>
          <a:ln/>
        </p:spPr>
        <p:txBody>
          <a:bodyPr wrap="square" lIns="68072" tIns="25527" rIns="68072" bIns="25527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1A1A1A"/>
                </a:solidFill>
              </a:rPr>
              <a:t>Validación</a:t>
            </a:r>
            <a:endParaRPr lang="en-US" sz="485" dirty="0"/>
          </a:p>
        </p:txBody>
      </p:sp>
      <p:sp>
        <p:nvSpPr>
          <p:cNvPr id="56" name="Text 52"/>
          <p:cNvSpPr/>
          <p:nvPr/>
        </p:nvSpPr>
        <p:spPr>
          <a:xfrm>
            <a:off x="5009443" y="3191470"/>
            <a:ext cx="4154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2D5016"/>
                </a:solidFill>
              </a:rPr>
              <a:t>✓ Positivo</a:t>
            </a:r>
            <a:endParaRPr lang="en-US" sz="584" dirty="0"/>
          </a:p>
        </p:txBody>
      </p:sp>
      <p:pic>
        <p:nvPicPr>
          <p:cNvPr id="5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394" y="1062633"/>
            <a:ext cx="1785938" cy="11935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7188" y="357188"/>
            <a:ext cx="8429625" cy="40183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357188" y="737592"/>
            <a:ext cx="8429625" cy="21431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396478"/>
            <a:ext cx="150019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4363" y="357188"/>
            <a:ext cx="3262992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Casos de Prueba - App Móvil (8-14)</a:t>
            </a:r>
            <a:endParaRPr lang="en-US" sz="1397" dirty="0"/>
          </a:p>
        </p:txBody>
      </p:sp>
      <p:sp>
        <p:nvSpPr>
          <p:cNvPr id="7" name="Shape 3"/>
          <p:cNvSpPr/>
          <p:nvPr/>
        </p:nvSpPr>
        <p:spPr>
          <a:xfrm>
            <a:off x="357188" y="951905"/>
            <a:ext cx="8429625" cy="287536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4"/>
          <p:cNvSpPr/>
          <p:nvPr/>
        </p:nvSpPr>
        <p:spPr>
          <a:xfrm>
            <a:off x="357188" y="951905"/>
            <a:ext cx="421481" cy="28753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N°</a:t>
            </a:r>
            <a:endParaRPr lang="en-US" sz="584" dirty="0"/>
          </a:p>
        </p:txBody>
      </p:sp>
      <p:sp>
        <p:nvSpPr>
          <p:cNvPr id="9" name="Text 5"/>
          <p:cNvSpPr/>
          <p:nvPr/>
        </p:nvSpPr>
        <p:spPr>
          <a:xfrm>
            <a:off x="778669" y="951905"/>
            <a:ext cx="2528888" cy="28753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Descripción</a:t>
            </a:r>
            <a:endParaRPr lang="en-US" sz="584" dirty="0"/>
          </a:p>
        </p:txBody>
      </p:sp>
      <p:sp>
        <p:nvSpPr>
          <p:cNvPr id="10" name="Text 6"/>
          <p:cNvSpPr/>
          <p:nvPr/>
        </p:nvSpPr>
        <p:spPr>
          <a:xfrm>
            <a:off x="3307556" y="951905"/>
            <a:ext cx="1264444" cy="28753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Tipo</a:t>
            </a:r>
            <a:endParaRPr lang="en-US" sz="584" dirty="0"/>
          </a:p>
        </p:txBody>
      </p:sp>
      <p:sp>
        <p:nvSpPr>
          <p:cNvPr id="11" name="Text 7"/>
          <p:cNvSpPr/>
          <p:nvPr/>
        </p:nvSpPr>
        <p:spPr>
          <a:xfrm>
            <a:off x="4572000" y="951905"/>
            <a:ext cx="2107406" cy="28753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Resultado Esperado</a:t>
            </a:r>
            <a:endParaRPr lang="en-US" sz="584" dirty="0"/>
          </a:p>
        </p:txBody>
      </p:sp>
      <p:sp>
        <p:nvSpPr>
          <p:cNvPr id="12" name="Text 8"/>
          <p:cNvSpPr/>
          <p:nvPr/>
        </p:nvSpPr>
        <p:spPr>
          <a:xfrm>
            <a:off x="6679406" y="951905"/>
            <a:ext cx="2107406" cy="28753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Resultado Final</a:t>
            </a:r>
            <a:endParaRPr lang="en-US" sz="584" dirty="0"/>
          </a:p>
        </p:txBody>
      </p:sp>
      <p:sp>
        <p:nvSpPr>
          <p:cNvPr id="13" name="Shape 9"/>
          <p:cNvSpPr/>
          <p:nvPr/>
        </p:nvSpPr>
        <p:spPr>
          <a:xfrm>
            <a:off x="357188" y="1239441"/>
            <a:ext cx="8429625" cy="41500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357188" y="1647304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1"/>
          <p:cNvSpPr/>
          <p:nvPr/>
        </p:nvSpPr>
        <p:spPr>
          <a:xfrm>
            <a:off x="357188" y="1239441"/>
            <a:ext cx="421481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8</a:t>
            </a:r>
            <a:endParaRPr lang="en-US" sz="584" dirty="0"/>
          </a:p>
        </p:txBody>
      </p:sp>
      <p:sp>
        <p:nvSpPr>
          <p:cNvPr id="16" name="Text 12"/>
          <p:cNvSpPr/>
          <p:nvPr/>
        </p:nvSpPr>
        <p:spPr>
          <a:xfrm>
            <a:off x="778669" y="1239441"/>
            <a:ext cx="2528888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Registro sin aceptar términos</a:t>
            </a:r>
            <a:endParaRPr lang="en-US" sz="621" dirty="0"/>
          </a:p>
        </p:txBody>
      </p:sp>
      <p:sp>
        <p:nvSpPr>
          <p:cNvPr id="17" name="Text 13"/>
          <p:cNvSpPr/>
          <p:nvPr/>
        </p:nvSpPr>
        <p:spPr>
          <a:xfrm>
            <a:off x="3307556" y="1239441"/>
            <a:ext cx="1264444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Validación</a:t>
            </a:r>
            <a:endParaRPr lang="en-US" sz="584" dirty="0"/>
          </a:p>
        </p:txBody>
      </p:sp>
      <p:sp>
        <p:nvSpPr>
          <p:cNvPr id="18" name="Text 14"/>
          <p:cNvSpPr/>
          <p:nvPr/>
        </p:nvSpPr>
        <p:spPr>
          <a:xfrm>
            <a:off x="4572000" y="1239441"/>
            <a:ext cx="2107406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Se debe impedir el registro si no se aceptaron los términos (Checkbox)</a:t>
            </a:r>
            <a:endParaRPr lang="en-US" sz="621" dirty="0"/>
          </a:p>
        </p:txBody>
      </p:sp>
      <p:sp>
        <p:nvSpPr>
          <p:cNvPr id="19" name="Shape 15"/>
          <p:cNvSpPr/>
          <p:nvPr/>
        </p:nvSpPr>
        <p:spPr>
          <a:xfrm>
            <a:off x="6750844" y="1358373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6"/>
          <p:cNvSpPr/>
          <p:nvPr/>
        </p:nvSpPr>
        <p:spPr>
          <a:xfrm>
            <a:off x="6750844" y="1358373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7"/>
          <p:cNvSpPr/>
          <p:nvPr/>
        </p:nvSpPr>
        <p:spPr>
          <a:xfrm>
            <a:off x="6750844" y="1358373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22" name="Shape 18"/>
          <p:cNvSpPr/>
          <p:nvPr/>
        </p:nvSpPr>
        <p:spPr>
          <a:xfrm>
            <a:off x="357188" y="1650876"/>
            <a:ext cx="8429625" cy="29501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Shape 19"/>
          <p:cNvSpPr/>
          <p:nvPr/>
        </p:nvSpPr>
        <p:spPr>
          <a:xfrm>
            <a:off x="357188" y="1938747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0"/>
          <p:cNvSpPr/>
          <p:nvPr/>
        </p:nvSpPr>
        <p:spPr>
          <a:xfrm>
            <a:off x="357188" y="1650876"/>
            <a:ext cx="421481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9</a:t>
            </a:r>
            <a:endParaRPr lang="en-US" sz="584" dirty="0"/>
          </a:p>
        </p:txBody>
      </p:sp>
      <p:sp>
        <p:nvSpPr>
          <p:cNvPr id="25" name="Text 21"/>
          <p:cNvSpPr/>
          <p:nvPr/>
        </p:nvSpPr>
        <p:spPr>
          <a:xfrm>
            <a:off x="778669" y="1650876"/>
            <a:ext cx="2528888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Inicio de sesión con Google</a:t>
            </a:r>
            <a:endParaRPr lang="en-US" sz="621" dirty="0"/>
          </a:p>
        </p:txBody>
      </p:sp>
      <p:sp>
        <p:nvSpPr>
          <p:cNvPr id="26" name="Text 22"/>
          <p:cNvSpPr/>
          <p:nvPr/>
        </p:nvSpPr>
        <p:spPr>
          <a:xfrm>
            <a:off x="3307556" y="1650876"/>
            <a:ext cx="1264444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Integración/Funcional</a:t>
            </a:r>
            <a:endParaRPr lang="en-US" sz="584" dirty="0"/>
          </a:p>
        </p:txBody>
      </p:sp>
      <p:sp>
        <p:nvSpPr>
          <p:cNvPr id="27" name="Text 23"/>
          <p:cNvSpPr/>
          <p:nvPr/>
        </p:nvSpPr>
        <p:spPr>
          <a:xfrm>
            <a:off x="4572000" y="1650876"/>
            <a:ext cx="2107406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Se debe redirigir a Google para iniciar sesión</a:t>
            </a:r>
            <a:endParaRPr lang="en-US" sz="621" dirty="0"/>
          </a:p>
        </p:txBody>
      </p:sp>
      <p:sp>
        <p:nvSpPr>
          <p:cNvPr id="28" name="Shape 24"/>
          <p:cNvSpPr/>
          <p:nvPr/>
        </p:nvSpPr>
        <p:spPr>
          <a:xfrm>
            <a:off x="6750844" y="1709812"/>
            <a:ext cx="516443" cy="173236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Shape 25"/>
          <p:cNvSpPr/>
          <p:nvPr/>
        </p:nvSpPr>
        <p:spPr>
          <a:xfrm>
            <a:off x="6750844" y="1709812"/>
            <a:ext cx="21431" cy="173236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6"/>
          <p:cNvSpPr/>
          <p:nvPr/>
        </p:nvSpPr>
        <p:spPr>
          <a:xfrm>
            <a:off x="6750844" y="1709812"/>
            <a:ext cx="516443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Negativo</a:t>
            </a:r>
            <a:endParaRPr lang="en-US" sz="584" dirty="0"/>
          </a:p>
        </p:txBody>
      </p:sp>
      <p:sp>
        <p:nvSpPr>
          <p:cNvPr id="31" name="Shape 27"/>
          <p:cNvSpPr/>
          <p:nvPr/>
        </p:nvSpPr>
        <p:spPr>
          <a:xfrm>
            <a:off x="357188" y="1942319"/>
            <a:ext cx="8429625" cy="29501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Shape 28"/>
          <p:cNvSpPr/>
          <p:nvPr/>
        </p:nvSpPr>
        <p:spPr>
          <a:xfrm>
            <a:off x="357188" y="2230189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29"/>
          <p:cNvSpPr/>
          <p:nvPr/>
        </p:nvSpPr>
        <p:spPr>
          <a:xfrm>
            <a:off x="357188" y="1942319"/>
            <a:ext cx="421481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10</a:t>
            </a:r>
            <a:endParaRPr lang="en-US" sz="584" dirty="0"/>
          </a:p>
        </p:txBody>
      </p:sp>
      <p:sp>
        <p:nvSpPr>
          <p:cNvPr id="34" name="Text 30"/>
          <p:cNvSpPr/>
          <p:nvPr/>
        </p:nvSpPr>
        <p:spPr>
          <a:xfrm>
            <a:off x="778669" y="1942319"/>
            <a:ext cx="2528888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Inicio de sesión con Facebook</a:t>
            </a:r>
            <a:endParaRPr lang="en-US" sz="621" dirty="0"/>
          </a:p>
        </p:txBody>
      </p:sp>
      <p:sp>
        <p:nvSpPr>
          <p:cNvPr id="35" name="Text 31"/>
          <p:cNvSpPr/>
          <p:nvPr/>
        </p:nvSpPr>
        <p:spPr>
          <a:xfrm>
            <a:off x="3307556" y="1942319"/>
            <a:ext cx="1264444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Integración/Funcional</a:t>
            </a:r>
            <a:endParaRPr lang="en-US" sz="584" dirty="0"/>
          </a:p>
        </p:txBody>
      </p:sp>
      <p:sp>
        <p:nvSpPr>
          <p:cNvPr id="36" name="Text 32"/>
          <p:cNvSpPr/>
          <p:nvPr/>
        </p:nvSpPr>
        <p:spPr>
          <a:xfrm>
            <a:off x="4572000" y="1942319"/>
            <a:ext cx="2107406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Se debe redirigir a Facebook para iniciar sesión</a:t>
            </a:r>
            <a:endParaRPr lang="en-US" sz="621" dirty="0"/>
          </a:p>
        </p:txBody>
      </p:sp>
      <p:sp>
        <p:nvSpPr>
          <p:cNvPr id="37" name="Shape 33"/>
          <p:cNvSpPr/>
          <p:nvPr/>
        </p:nvSpPr>
        <p:spPr>
          <a:xfrm>
            <a:off x="6750844" y="2001255"/>
            <a:ext cx="516443" cy="173236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Shape 34"/>
          <p:cNvSpPr/>
          <p:nvPr/>
        </p:nvSpPr>
        <p:spPr>
          <a:xfrm>
            <a:off x="6750844" y="2001255"/>
            <a:ext cx="21431" cy="173236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Text 35"/>
          <p:cNvSpPr/>
          <p:nvPr/>
        </p:nvSpPr>
        <p:spPr>
          <a:xfrm>
            <a:off x="6750844" y="2001255"/>
            <a:ext cx="516443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Negativo</a:t>
            </a:r>
            <a:endParaRPr lang="en-US" sz="584" dirty="0"/>
          </a:p>
        </p:txBody>
      </p:sp>
      <p:sp>
        <p:nvSpPr>
          <p:cNvPr id="40" name="Shape 36"/>
          <p:cNvSpPr/>
          <p:nvPr/>
        </p:nvSpPr>
        <p:spPr>
          <a:xfrm>
            <a:off x="357188" y="2233761"/>
            <a:ext cx="8429625" cy="4150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1" name="Shape 37"/>
          <p:cNvSpPr/>
          <p:nvPr/>
        </p:nvSpPr>
        <p:spPr>
          <a:xfrm>
            <a:off x="357188" y="2641625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38"/>
          <p:cNvSpPr/>
          <p:nvPr/>
        </p:nvSpPr>
        <p:spPr>
          <a:xfrm>
            <a:off x="357188" y="2233761"/>
            <a:ext cx="421481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11</a:t>
            </a:r>
            <a:endParaRPr lang="en-US" sz="584" dirty="0"/>
          </a:p>
        </p:txBody>
      </p:sp>
      <p:sp>
        <p:nvSpPr>
          <p:cNvPr id="43" name="Text 39"/>
          <p:cNvSpPr/>
          <p:nvPr/>
        </p:nvSpPr>
        <p:spPr>
          <a:xfrm>
            <a:off x="778669" y="2233761"/>
            <a:ext cx="2528888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Seleccionar servicio en lista (ej: Corte clásico)</a:t>
            </a:r>
            <a:endParaRPr lang="en-US" sz="621" dirty="0"/>
          </a:p>
        </p:txBody>
      </p:sp>
      <p:sp>
        <p:nvSpPr>
          <p:cNvPr id="44" name="Text 40"/>
          <p:cNvSpPr/>
          <p:nvPr/>
        </p:nvSpPr>
        <p:spPr>
          <a:xfrm>
            <a:off x="3307556" y="2233761"/>
            <a:ext cx="1264444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Funcional</a:t>
            </a:r>
            <a:endParaRPr lang="en-US" sz="584" dirty="0"/>
          </a:p>
        </p:txBody>
      </p:sp>
      <p:sp>
        <p:nvSpPr>
          <p:cNvPr id="45" name="Text 41"/>
          <p:cNvSpPr/>
          <p:nvPr/>
        </p:nvSpPr>
        <p:spPr>
          <a:xfrm>
            <a:off x="4572000" y="2233761"/>
            <a:ext cx="2107406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Se debe seleccionar el servicio y visualizar en el registro de reserva</a:t>
            </a:r>
            <a:endParaRPr lang="en-US" sz="621" dirty="0"/>
          </a:p>
        </p:txBody>
      </p:sp>
      <p:sp>
        <p:nvSpPr>
          <p:cNvPr id="46" name="Shape 42"/>
          <p:cNvSpPr/>
          <p:nvPr/>
        </p:nvSpPr>
        <p:spPr>
          <a:xfrm>
            <a:off x="6750844" y="2352694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7" name="Shape 43"/>
          <p:cNvSpPr/>
          <p:nvPr/>
        </p:nvSpPr>
        <p:spPr>
          <a:xfrm>
            <a:off x="6750844" y="2352694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8" name="Text 44"/>
          <p:cNvSpPr/>
          <p:nvPr/>
        </p:nvSpPr>
        <p:spPr>
          <a:xfrm>
            <a:off x="6750844" y="2352694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49" name="Shape 45"/>
          <p:cNvSpPr/>
          <p:nvPr/>
        </p:nvSpPr>
        <p:spPr>
          <a:xfrm>
            <a:off x="357188" y="2645197"/>
            <a:ext cx="8429625" cy="29501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0" name="Shape 46"/>
          <p:cNvSpPr/>
          <p:nvPr/>
        </p:nvSpPr>
        <p:spPr>
          <a:xfrm>
            <a:off x="357188" y="2933067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1" name="Text 47"/>
          <p:cNvSpPr/>
          <p:nvPr/>
        </p:nvSpPr>
        <p:spPr>
          <a:xfrm>
            <a:off x="357188" y="2645197"/>
            <a:ext cx="421481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12</a:t>
            </a:r>
            <a:endParaRPr lang="en-US" sz="584" dirty="0"/>
          </a:p>
        </p:txBody>
      </p:sp>
      <p:sp>
        <p:nvSpPr>
          <p:cNvPr id="52" name="Text 48"/>
          <p:cNvSpPr/>
          <p:nvPr/>
        </p:nvSpPr>
        <p:spPr>
          <a:xfrm>
            <a:off x="778669" y="2645197"/>
            <a:ext cx="2528888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Cambiar servicio en reserva</a:t>
            </a:r>
            <a:endParaRPr lang="en-US" sz="621" dirty="0"/>
          </a:p>
        </p:txBody>
      </p:sp>
      <p:sp>
        <p:nvSpPr>
          <p:cNvPr id="53" name="Text 49"/>
          <p:cNvSpPr/>
          <p:nvPr/>
        </p:nvSpPr>
        <p:spPr>
          <a:xfrm>
            <a:off x="3307556" y="2645197"/>
            <a:ext cx="1264444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Funcional</a:t>
            </a:r>
            <a:endParaRPr lang="en-US" sz="584" dirty="0"/>
          </a:p>
        </p:txBody>
      </p:sp>
      <p:sp>
        <p:nvSpPr>
          <p:cNvPr id="54" name="Text 50"/>
          <p:cNvSpPr/>
          <p:nvPr/>
        </p:nvSpPr>
        <p:spPr>
          <a:xfrm>
            <a:off x="4572000" y="2645197"/>
            <a:ext cx="2107406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El servicio debe ser cambiado correctamente</a:t>
            </a:r>
            <a:endParaRPr lang="en-US" sz="621" dirty="0"/>
          </a:p>
        </p:txBody>
      </p:sp>
      <p:sp>
        <p:nvSpPr>
          <p:cNvPr id="55" name="Shape 51"/>
          <p:cNvSpPr/>
          <p:nvPr/>
        </p:nvSpPr>
        <p:spPr>
          <a:xfrm>
            <a:off x="6750844" y="2704133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6" name="Shape 52"/>
          <p:cNvSpPr/>
          <p:nvPr/>
        </p:nvSpPr>
        <p:spPr>
          <a:xfrm>
            <a:off x="6750844" y="2704133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7" name="Text 53"/>
          <p:cNvSpPr/>
          <p:nvPr/>
        </p:nvSpPr>
        <p:spPr>
          <a:xfrm>
            <a:off x="6750844" y="2704133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58" name="Shape 54"/>
          <p:cNvSpPr/>
          <p:nvPr/>
        </p:nvSpPr>
        <p:spPr>
          <a:xfrm>
            <a:off x="357188" y="2936639"/>
            <a:ext cx="8429625" cy="4150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9" name="Shape 55"/>
          <p:cNvSpPr/>
          <p:nvPr/>
        </p:nvSpPr>
        <p:spPr>
          <a:xfrm>
            <a:off x="357188" y="3344503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0" name="Text 56"/>
          <p:cNvSpPr/>
          <p:nvPr/>
        </p:nvSpPr>
        <p:spPr>
          <a:xfrm>
            <a:off x="357188" y="2936639"/>
            <a:ext cx="421481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13</a:t>
            </a:r>
            <a:endParaRPr lang="en-US" sz="584" dirty="0"/>
          </a:p>
        </p:txBody>
      </p:sp>
      <p:sp>
        <p:nvSpPr>
          <p:cNvPr id="61" name="Text 57"/>
          <p:cNvSpPr/>
          <p:nvPr/>
        </p:nvSpPr>
        <p:spPr>
          <a:xfrm>
            <a:off x="778669" y="2936639"/>
            <a:ext cx="2528888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Completar reserva válida</a:t>
            </a:r>
            <a:endParaRPr lang="en-US" sz="621" dirty="0"/>
          </a:p>
        </p:txBody>
      </p:sp>
      <p:sp>
        <p:nvSpPr>
          <p:cNvPr id="62" name="Text 58"/>
          <p:cNvSpPr/>
          <p:nvPr/>
        </p:nvSpPr>
        <p:spPr>
          <a:xfrm>
            <a:off x="3307556" y="2936639"/>
            <a:ext cx="1264444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Funcional</a:t>
            </a:r>
            <a:endParaRPr lang="en-US" sz="584" dirty="0"/>
          </a:p>
        </p:txBody>
      </p:sp>
      <p:sp>
        <p:nvSpPr>
          <p:cNvPr id="63" name="Text 59"/>
          <p:cNvSpPr/>
          <p:nvPr/>
        </p:nvSpPr>
        <p:spPr>
          <a:xfrm>
            <a:off x="4572000" y="2936639"/>
            <a:ext cx="2107406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Se debe guardar la reserva con fecha, hora y servicio</a:t>
            </a:r>
            <a:endParaRPr lang="en-US" sz="621" dirty="0"/>
          </a:p>
        </p:txBody>
      </p:sp>
      <p:sp>
        <p:nvSpPr>
          <p:cNvPr id="64" name="Shape 60"/>
          <p:cNvSpPr/>
          <p:nvPr/>
        </p:nvSpPr>
        <p:spPr>
          <a:xfrm>
            <a:off x="6750844" y="3055572"/>
            <a:ext cx="976182" cy="173236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5" name="Shape 61"/>
          <p:cNvSpPr/>
          <p:nvPr/>
        </p:nvSpPr>
        <p:spPr>
          <a:xfrm>
            <a:off x="6750844" y="3055572"/>
            <a:ext cx="21431" cy="173236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6" name="Text 62"/>
          <p:cNvSpPr/>
          <p:nvPr/>
        </p:nvSpPr>
        <p:spPr>
          <a:xfrm>
            <a:off x="6750844" y="3055572"/>
            <a:ext cx="976182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7E22"/>
                </a:solidFill>
              </a:rPr>
              <a:t>Negativo/Pendiente</a:t>
            </a:r>
            <a:endParaRPr lang="en-US" sz="584" dirty="0"/>
          </a:p>
        </p:txBody>
      </p:sp>
      <p:sp>
        <p:nvSpPr>
          <p:cNvPr id="67" name="Shape 63"/>
          <p:cNvSpPr/>
          <p:nvPr/>
        </p:nvSpPr>
        <p:spPr>
          <a:xfrm>
            <a:off x="357188" y="3348075"/>
            <a:ext cx="8429625" cy="29501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8" name="Shape 64"/>
          <p:cNvSpPr/>
          <p:nvPr/>
        </p:nvSpPr>
        <p:spPr>
          <a:xfrm>
            <a:off x="357188" y="3635946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9" name="Text 65"/>
          <p:cNvSpPr/>
          <p:nvPr/>
        </p:nvSpPr>
        <p:spPr>
          <a:xfrm>
            <a:off x="357188" y="3348075"/>
            <a:ext cx="421481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14</a:t>
            </a:r>
            <a:endParaRPr lang="en-US" sz="584" dirty="0"/>
          </a:p>
        </p:txBody>
      </p:sp>
      <p:sp>
        <p:nvSpPr>
          <p:cNvPr id="70" name="Text 66"/>
          <p:cNvSpPr/>
          <p:nvPr/>
        </p:nvSpPr>
        <p:spPr>
          <a:xfrm>
            <a:off x="778669" y="3348075"/>
            <a:ext cx="2528888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Intentar reserva sin seleccionar hora</a:t>
            </a:r>
            <a:endParaRPr lang="en-US" sz="621" dirty="0"/>
          </a:p>
        </p:txBody>
      </p:sp>
      <p:sp>
        <p:nvSpPr>
          <p:cNvPr id="71" name="Text 67"/>
          <p:cNvSpPr/>
          <p:nvPr/>
        </p:nvSpPr>
        <p:spPr>
          <a:xfrm>
            <a:off x="3307556" y="3348075"/>
            <a:ext cx="1264444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Validación</a:t>
            </a:r>
            <a:endParaRPr lang="en-US" sz="584" dirty="0"/>
          </a:p>
        </p:txBody>
      </p:sp>
      <p:sp>
        <p:nvSpPr>
          <p:cNvPr id="72" name="Text 68"/>
          <p:cNvSpPr/>
          <p:nvPr/>
        </p:nvSpPr>
        <p:spPr>
          <a:xfrm>
            <a:off x="4572000" y="3348075"/>
            <a:ext cx="2107406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Se debe impedir la creación de reserva sin hora</a:t>
            </a:r>
            <a:endParaRPr lang="en-US" sz="621" dirty="0"/>
          </a:p>
        </p:txBody>
      </p:sp>
      <p:sp>
        <p:nvSpPr>
          <p:cNvPr id="73" name="Shape 69"/>
          <p:cNvSpPr/>
          <p:nvPr/>
        </p:nvSpPr>
        <p:spPr>
          <a:xfrm>
            <a:off x="6750844" y="3407011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4" name="Shape 70"/>
          <p:cNvSpPr/>
          <p:nvPr/>
        </p:nvSpPr>
        <p:spPr>
          <a:xfrm>
            <a:off x="6750844" y="3407011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5" name="Text 71"/>
          <p:cNvSpPr/>
          <p:nvPr/>
        </p:nvSpPr>
        <p:spPr>
          <a:xfrm>
            <a:off x="6750844" y="3407011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76" name="Shape 72"/>
          <p:cNvSpPr/>
          <p:nvPr/>
        </p:nvSpPr>
        <p:spPr>
          <a:xfrm>
            <a:off x="357188" y="4557713"/>
            <a:ext cx="8429625" cy="228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7" name="Shape 73"/>
          <p:cNvSpPr/>
          <p:nvPr/>
        </p:nvSpPr>
        <p:spPr>
          <a:xfrm>
            <a:off x="357188" y="4557713"/>
            <a:ext cx="8429625" cy="1428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8" name="Text 74"/>
          <p:cNvSpPr/>
          <p:nvPr/>
        </p:nvSpPr>
        <p:spPr>
          <a:xfrm>
            <a:off x="357188" y="4557713"/>
            <a:ext cx="8429625" cy="22860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534" b="1" i="1" dirty="0">
                <a:solidFill>
                  <a:srgbClr val="2C2C2C"/>
                </a:solidFill>
              </a:rPr>
              <a:t>Nota:</a:t>
            </a:r>
            <a:r>
              <a:rPr lang="en-US" sz="568" i="1" dirty="0">
                <a:solidFill>
                  <a:srgbClr val="2C2C2C"/>
                </a:solidFill>
              </a:rPr>
              <a:t> Los casos 9 y 10 presentan problemas de red IP que impiden la apertura de los sitios de Google y Facebook. El caso 13 funciona en Ionic Web pero falla en Android debido a problemas de red local.</a:t>
            </a:r>
            <a:endParaRPr lang="en-US" sz="5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7188" y="357188"/>
            <a:ext cx="8429625" cy="40183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357188" y="737592"/>
            <a:ext cx="8429625" cy="21431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396478"/>
            <a:ext cx="150019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4363" y="357188"/>
            <a:ext cx="3373831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Casos de Prueba - App Móvil (15-20)</a:t>
            </a:r>
            <a:endParaRPr lang="en-US" sz="1397" dirty="0"/>
          </a:p>
        </p:txBody>
      </p:sp>
      <p:sp>
        <p:nvSpPr>
          <p:cNvPr id="7" name="Shape 3"/>
          <p:cNvSpPr/>
          <p:nvPr/>
        </p:nvSpPr>
        <p:spPr>
          <a:xfrm>
            <a:off x="357188" y="951905"/>
            <a:ext cx="8429625" cy="287536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4"/>
          <p:cNvSpPr/>
          <p:nvPr/>
        </p:nvSpPr>
        <p:spPr>
          <a:xfrm>
            <a:off x="357188" y="951905"/>
            <a:ext cx="421481" cy="28753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N°</a:t>
            </a:r>
            <a:endParaRPr lang="en-US" sz="584" dirty="0"/>
          </a:p>
        </p:txBody>
      </p:sp>
      <p:sp>
        <p:nvSpPr>
          <p:cNvPr id="9" name="Text 5"/>
          <p:cNvSpPr/>
          <p:nvPr/>
        </p:nvSpPr>
        <p:spPr>
          <a:xfrm>
            <a:off x="778669" y="951905"/>
            <a:ext cx="2528888" cy="28753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Descripción</a:t>
            </a:r>
            <a:endParaRPr lang="en-US" sz="584" dirty="0"/>
          </a:p>
        </p:txBody>
      </p:sp>
      <p:sp>
        <p:nvSpPr>
          <p:cNvPr id="10" name="Text 6"/>
          <p:cNvSpPr/>
          <p:nvPr/>
        </p:nvSpPr>
        <p:spPr>
          <a:xfrm>
            <a:off x="3307556" y="951905"/>
            <a:ext cx="1264444" cy="28753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Tipo</a:t>
            </a:r>
            <a:endParaRPr lang="en-US" sz="584" dirty="0"/>
          </a:p>
        </p:txBody>
      </p:sp>
      <p:sp>
        <p:nvSpPr>
          <p:cNvPr id="11" name="Text 7"/>
          <p:cNvSpPr/>
          <p:nvPr/>
        </p:nvSpPr>
        <p:spPr>
          <a:xfrm>
            <a:off x="4572000" y="951905"/>
            <a:ext cx="2107406" cy="28753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Resultado Esperado</a:t>
            </a:r>
            <a:endParaRPr lang="en-US" sz="584" dirty="0"/>
          </a:p>
        </p:txBody>
      </p:sp>
      <p:sp>
        <p:nvSpPr>
          <p:cNvPr id="12" name="Text 8"/>
          <p:cNvSpPr/>
          <p:nvPr/>
        </p:nvSpPr>
        <p:spPr>
          <a:xfrm>
            <a:off x="6679406" y="951905"/>
            <a:ext cx="2107406" cy="28753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Resultado Final</a:t>
            </a:r>
            <a:endParaRPr lang="en-US" sz="584" dirty="0"/>
          </a:p>
        </p:txBody>
      </p:sp>
      <p:sp>
        <p:nvSpPr>
          <p:cNvPr id="13" name="Shape 9"/>
          <p:cNvSpPr/>
          <p:nvPr/>
        </p:nvSpPr>
        <p:spPr>
          <a:xfrm>
            <a:off x="357188" y="1239441"/>
            <a:ext cx="8429625" cy="41500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357188" y="1647304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1"/>
          <p:cNvSpPr/>
          <p:nvPr/>
        </p:nvSpPr>
        <p:spPr>
          <a:xfrm>
            <a:off x="357188" y="1239441"/>
            <a:ext cx="421481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15</a:t>
            </a:r>
            <a:endParaRPr lang="en-US" sz="584" dirty="0"/>
          </a:p>
        </p:txBody>
      </p:sp>
      <p:sp>
        <p:nvSpPr>
          <p:cNvPr id="16" name="Text 12"/>
          <p:cNvSpPr/>
          <p:nvPr/>
        </p:nvSpPr>
        <p:spPr>
          <a:xfrm>
            <a:off x="778669" y="1239441"/>
            <a:ext cx="2528888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Cancelar reserva activa</a:t>
            </a:r>
            <a:endParaRPr lang="en-US" sz="621" dirty="0"/>
          </a:p>
        </p:txBody>
      </p:sp>
      <p:sp>
        <p:nvSpPr>
          <p:cNvPr id="17" name="Text 13"/>
          <p:cNvSpPr/>
          <p:nvPr/>
        </p:nvSpPr>
        <p:spPr>
          <a:xfrm>
            <a:off x="3307556" y="1239441"/>
            <a:ext cx="1264444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Funcional</a:t>
            </a:r>
            <a:endParaRPr lang="en-US" sz="584" dirty="0"/>
          </a:p>
        </p:txBody>
      </p:sp>
      <p:sp>
        <p:nvSpPr>
          <p:cNvPr id="18" name="Text 14"/>
          <p:cNvSpPr/>
          <p:nvPr/>
        </p:nvSpPr>
        <p:spPr>
          <a:xfrm>
            <a:off x="4572000" y="1239441"/>
            <a:ext cx="2107406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Se debe cancelar la reserva activa y lanzar un mensaje de confirmación</a:t>
            </a:r>
            <a:endParaRPr lang="en-US" sz="621" dirty="0"/>
          </a:p>
        </p:txBody>
      </p:sp>
      <p:sp>
        <p:nvSpPr>
          <p:cNvPr id="19" name="Shape 15"/>
          <p:cNvSpPr/>
          <p:nvPr/>
        </p:nvSpPr>
        <p:spPr>
          <a:xfrm>
            <a:off x="6750844" y="1358373"/>
            <a:ext cx="561370" cy="173236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6"/>
          <p:cNvSpPr/>
          <p:nvPr/>
        </p:nvSpPr>
        <p:spPr>
          <a:xfrm>
            <a:off x="6750844" y="1358373"/>
            <a:ext cx="21431" cy="173236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7"/>
          <p:cNvSpPr/>
          <p:nvPr/>
        </p:nvSpPr>
        <p:spPr>
          <a:xfrm>
            <a:off x="6750844" y="1358373"/>
            <a:ext cx="561370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E67E22"/>
                </a:solidFill>
              </a:rPr>
              <a:t>Pendiente</a:t>
            </a:r>
            <a:endParaRPr lang="en-US" sz="584" dirty="0"/>
          </a:p>
        </p:txBody>
      </p:sp>
      <p:sp>
        <p:nvSpPr>
          <p:cNvPr id="22" name="Shape 18"/>
          <p:cNvSpPr/>
          <p:nvPr/>
        </p:nvSpPr>
        <p:spPr>
          <a:xfrm>
            <a:off x="357188" y="1650876"/>
            <a:ext cx="8429625" cy="4150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Shape 19"/>
          <p:cNvSpPr/>
          <p:nvPr/>
        </p:nvSpPr>
        <p:spPr>
          <a:xfrm>
            <a:off x="357188" y="2058739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0"/>
          <p:cNvSpPr/>
          <p:nvPr/>
        </p:nvSpPr>
        <p:spPr>
          <a:xfrm>
            <a:off x="357188" y="1650876"/>
            <a:ext cx="421481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16</a:t>
            </a:r>
            <a:endParaRPr lang="en-US" sz="584" dirty="0"/>
          </a:p>
        </p:txBody>
      </p:sp>
      <p:sp>
        <p:nvSpPr>
          <p:cNvPr id="25" name="Text 21"/>
          <p:cNvSpPr/>
          <p:nvPr/>
        </p:nvSpPr>
        <p:spPr>
          <a:xfrm>
            <a:off x="778669" y="1650876"/>
            <a:ext cx="2528888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Agregar producto al carrito</a:t>
            </a:r>
            <a:endParaRPr lang="en-US" sz="621" dirty="0"/>
          </a:p>
        </p:txBody>
      </p:sp>
      <p:sp>
        <p:nvSpPr>
          <p:cNvPr id="26" name="Text 22"/>
          <p:cNvSpPr/>
          <p:nvPr/>
        </p:nvSpPr>
        <p:spPr>
          <a:xfrm>
            <a:off x="3307556" y="1650876"/>
            <a:ext cx="1264444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Funcional</a:t>
            </a:r>
            <a:endParaRPr lang="en-US" sz="584" dirty="0"/>
          </a:p>
        </p:txBody>
      </p:sp>
      <p:sp>
        <p:nvSpPr>
          <p:cNvPr id="27" name="Text 23"/>
          <p:cNvSpPr/>
          <p:nvPr/>
        </p:nvSpPr>
        <p:spPr>
          <a:xfrm>
            <a:off x="4572000" y="1650876"/>
            <a:ext cx="2107406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Se debe añadir el producto al carrito y calcular el precio correctamente</a:t>
            </a:r>
            <a:endParaRPr lang="en-US" sz="621" dirty="0"/>
          </a:p>
        </p:txBody>
      </p:sp>
      <p:sp>
        <p:nvSpPr>
          <p:cNvPr id="28" name="Shape 24"/>
          <p:cNvSpPr/>
          <p:nvPr/>
        </p:nvSpPr>
        <p:spPr>
          <a:xfrm>
            <a:off x="6750844" y="1769808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Shape 25"/>
          <p:cNvSpPr/>
          <p:nvPr/>
        </p:nvSpPr>
        <p:spPr>
          <a:xfrm>
            <a:off x="6750844" y="1769808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6"/>
          <p:cNvSpPr/>
          <p:nvPr/>
        </p:nvSpPr>
        <p:spPr>
          <a:xfrm>
            <a:off x="6750844" y="1769808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31" name="Shape 27"/>
          <p:cNvSpPr/>
          <p:nvPr/>
        </p:nvSpPr>
        <p:spPr>
          <a:xfrm>
            <a:off x="357188" y="2062311"/>
            <a:ext cx="8429625" cy="29501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Shape 28"/>
          <p:cNvSpPr/>
          <p:nvPr/>
        </p:nvSpPr>
        <p:spPr>
          <a:xfrm>
            <a:off x="357188" y="2350182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29"/>
          <p:cNvSpPr/>
          <p:nvPr/>
        </p:nvSpPr>
        <p:spPr>
          <a:xfrm>
            <a:off x="357188" y="2062311"/>
            <a:ext cx="421481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17</a:t>
            </a:r>
            <a:endParaRPr lang="en-US" sz="584" dirty="0"/>
          </a:p>
        </p:txBody>
      </p:sp>
      <p:sp>
        <p:nvSpPr>
          <p:cNvPr id="34" name="Text 30"/>
          <p:cNvSpPr/>
          <p:nvPr/>
        </p:nvSpPr>
        <p:spPr>
          <a:xfrm>
            <a:off x="778669" y="2062311"/>
            <a:ext cx="2528888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Vaciar carrito</a:t>
            </a:r>
            <a:endParaRPr lang="en-US" sz="621" dirty="0"/>
          </a:p>
        </p:txBody>
      </p:sp>
      <p:sp>
        <p:nvSpPr>
          <p:cNvPr id="35" name="Text 31"/>
          <p:cNvSpPr/>
          <p:nvPr/>
        </p:nvSpPr>
        <p:spPr>
          <a:xfrm>
            <a:off x="3307556" y="2062311"/>
            <a:ext cx="1264444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Funcional</a:t>
            </a:r>
            <a:endParaRPr lang="en-US" sz="584" dirty="0"/>
          </a:p>
        </p:txBody>
      </p:sp>
      <p:sp>
        <p:nvSpPr>
          <p:cNvPr id="36" name="Text 32"/>
          <p:cNvSpPr/>
          <p:nvPr/>
        </p:nvSpPr>
        <p:spPr>
          <a:xfrm>
            <a:off x="4572000" y="2062311"/>
            <a:ext cx="2107406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Se debe eliminar todos los productos del carrito</a:t>
            </a:r>
            <a:endParaRPr lang="en-US" sz="621" dirty="0"/>
          </a:p>
        </p:txBody>
      </p:sp>
      <p:sp>
        <p:nvSpPr>
          <p:cNvPr id="37" name="Shape 33"/>
          <p:cNvSpPr/>
          <p:nvPr/>
        </p:nvSpPr>
        <p:spPr>
          <a:xfrm>
            <a:off x="6750844" y="2121247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Shape 34"/>
          <p:cNvSpPr/>
          <p:nvPr/>
        </p:nvSpPr>
        <p:spPr>
          <a:xfrm>
            <a:off x="6750844" y="2121247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Text 35"/>
          <p:cNvSpPr/>
          <p:nvPr/>
        </p:nvSpPr>
        <p:spPr>
          <a:xfrm>
            <a:off x="6750844" y="2121247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40" name="Shape 36"/>
          <p:cNvSpPr/>
          <p:nvPr/>
        </p:nvSpPr>
        <p:spPr>
          <a:xfrm>
            <a:off x="357188" y="2353754"/>
            <a:ext cx="8429625" cy="4150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1" name="Shape 37"/>
          <p:cNvSpPr/>
          <p:nvPr/>
        </p:nvSpPr>
        <p:spPr>
          <a:xfrm>
            <a:off x="357188" y="2761617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38"/>
          <p:cNvSpPr/>
          <p:nvPr/>
        </p:nvSpPr>
        <p:spPr>
          <a:xfrm>
            <a:off x="357188" y="2353754"/>
            <a:ext cx="421481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18</a:t>
            </a:r>
            <a:endParaRPr lang="en-US" sz="584" dirty="0"/>
          </a:p>
        </p:txBody>
      </p:sp>
      <p:sp>
        <p:nvSpPr>
          <p:cNvPr id="43" name="Text 39"/>
          <p:cNvSpPr/>
          <p:nvPr/>
        </p:nvSpPr>
        <p:spPr>
          <a:xfrm>
            <a:off x="778669" y="2353754"/>
            <a:ext cx="2528888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Intentar pagar con carrito vacío</a:t>
            </a:r>
            <a:endParaRPr lang="en-US" sz="621" dirty="0"/>
          </a:p>
        </p:txBody>
      </p:sp>
      <p:sp>
        <p:nvSpPr>
          <p:cNvPr id="44" name="Text 40"/>
          <p:cNvSpPr/>
          <p:nvPr/>
        </p:nvSpPr>
        <p:spPr>
          <a:xfrm>
            <a:off x="3307556" y="2353754"/>
            <a:ext cx="1264444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Validación</a:t>
            </a:r>
            <a:endParaRPr lang="en-US" sz="584" dirty="0"/>
          </a:p>
        </p:txBody>
      </p:sp>
      <p:sp>
        <p:nvSpPr>
          <p:cNvPr id="45" name="Text 41"/>
          <p:cNvSpPr/>
          <p:nvPr/>
        </p:nvSpPr>
        <p:spPr>
          <a:xfrm>
            <a:off x="4572000" y="2353754"/>
            <a:ext cx="2107406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Se debe bloquear el botón de pagar si no hay productos en el carrito</a:t>
            </a:r>
            <a:endParaRPr lang="en-US" sz="621" dirty="0"/>
          </a:p>
        </p:txBody>
      </p:sp>
      <p:sp>
        <p:nvSpPr>
          <p:cNvPr id="46" name="Shape 42"/>
          <p:cNvSpPr/>
          <p:nvPr/>
        </p:nvSpPr>
        <p:spPr>
          <a:xfrm>
            <a:off x="6750844" y="2472686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7" name="Shape 43"/>
          <p:cNvSpPr/>
          <p:nvPr/>
        </p:nvSpPr>
        <p:spPr>
          <a:xfrm>
            <a:off x="6750844" y="2472686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8" name="Text 44"/>
          <p:cNvSpPr/>
          <p:nvPr/>
        </p:nvSpPr>
        <p:spPr>
          <a:xfrm>
            <a:off x="6750844" y="2472686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49" name="Shape 45"/>
          <p:cNvSpPr/>
          <p:nvPr/>
        </p:nvSpPr>
        <p:spPr>
          <a:xfrm>
            <a:off x="357188" y="2765189"/>
            <a:ext cx="8429625" cy="41500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0" name="Shape 46"/>
          <p:cNvSpPr/>
          <p:nvPr/>
        </p:nvSpPr>
        <p:spPr>
          <a:xfrm>
            <a:off x="357188" y="3173053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1" name="Text 47"/>
          <p:cNvSpPr/>
          <p:nvPr/>
        </p:nvSpPr>
        <p:spPr>
          <a:xfrm>
            <a:off x="357188" y="2765189"/>
            <a:ext cx="421481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19</a:t>
            </a:r>
            <a:endParaRPr lang="en-US" sz="584" dirty="0"/>
          </a:p>
        </p:txBody>
      </p:sp>
      <p:sp>
        <p:nvSpPr>
          <p:cNvPr id="52" name="Text 48"/>
          <p:cNvSpPr/>
          <p:nvPr/>
        </p:nvSpPr>
        <p:spPr>
          <a:xfrm>
            <a:off x="778669" y="2765189"/>
            <a:ext cx="2528888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Visualización "responsive" en móviles y tablets</a:t>
            </a:r>
            <a:endParaRPr lang="en-US" sz="621" dirty="0"/>
          </a:p>
        </p:txBody>
      </p:sp>
      <p:sp>
        <p:nvSpPr>
          <p:cNvPr id="53" name="Text 49"/>
          <p:cNvSpPr/>
          <p:nvPr/>
        </p:nvSpPr>
        <p:spPr>
          <a:xfrm>
            <a:off x="3307556" y="2765189"/>
            <a:ext cx="1264444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Interfaces/UI</a:t>
            </a:r>
            <a:endParaRPr lang="en-US" sz="584" dirty="0"/>
          </a:p>
        </p:txBody>
      </p:sp>
      <p:sp>
        <p:nvSpPr>
          <p:cNvPr id="54" name="Text 50"/>
          <p:cNvSpPr/>
          <p:nvPr/>
        </p:nvSpPr>
        <p:spPr>
          <a:xfrm>
            <a:off x="4572000" y="2765189"/>
            <a:ext cx="2107406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La interfaz debe verse ordenada y consistente con el sitio web</a:t>
            </a:r>
            <a:endParaRPr lang="en-US" sz="621" dirty="0"/>
          </a:p>
        </p:txBody>
      </p:sp>
      <p:sp>
        <p:nvSpPr>
          <p:cNvPr id="55" name="Shape 51"/>
          <p:cNvSpPr/>
          <p:nvPr/>
        </p:nvSpPr>
        <p:spPr>
          <a:xfrm>
            <a:off x="6750844" y="2884122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6" name="Shape 52"/>
          <p:cNvSpPr/>
          <p:nvPr/>
        </p:nvSpPr>
        <p:spPr>
          <a:xfrm>
            <a:off x="6750844" y="2884122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7" name="Text 53"/>
          <p:cNvSpPr/>
          <p:nvPr/>
        </p:nvSpPr>
        <p:spPr>
          <a:xfrm>
            <a:off x="6750844" y="2884122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58" name="Shape 54"/>
          <p:cNvSpPr/>
          <p:nvPr/>
        </p:nvSpPr>
        <p:spPr>
          <a:xfrm>
            <a:off x="357188" y="3176625"/>
            <a:ext cx="8429625" cy="4150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9" name="Shape 55"/>
          <p:cNvSpPr/>
          <p:nvPr/>
        </p:nvSpPr>
        <p:spPr>
          <a:xfrm>
            <a:off x="357188" y="3584488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0" name="Text 56"/>
          <p:cNvSpPr/>
          <p:nvPr/>
        </p:nvSpPr>
        <p:spPr>
          <a:xfrm>
            <a:off x="357188" y="3176625"/>
            <a:ext cx="421481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20</a:t>
            </a:r>
            <a:endParaRPr lang="en-US" sz="584" dirty="0"/>
          </a:p>
        </p:txBody>
      </p:sp>
      <p:sp>
        <p:nvSpPr>
          <p:cNvPr id="61" name="Text 57"/>
          <p:cNvSpPr/>
          <p:nvPr/>
        </p:nvSpPr>
        <p:spPr>
          <a:xfrm>
            <a:off x="778669" y="3176625"/>
            <a:ext cx="2528888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Cerrar sesión</a:t>
            </a:r>
            <a:endParaRPr lang="en-US" sz="621" dirty="0"/>
          </a:p>
        </p:txBody>
      </p:sp>
      <p:sp>
        <p:nvSpPr>
          <p:cNvPr id="62" name="Text 58"/>
          <p:cNvSpPr/>
          <p:nvPr/>
        </p:nvSpPr>
        <p:spPr>
          <a:xfrm>
            <a:off x="3307556" y="3176625"/>
            <a:ext cx="1264444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Funcional</a:t>
            </a:r>
            <a:endParaRPr lang="en-US" sz="584" dirty="0"/>
          </a:p>
        </p:txBody>
      </p:sp>
      <p:sp>
        <p:nvSpPr>
          <p:cNvPr id="63" name="Text 59"/>
          <p:cNvSpPr/>
          <p:nvPr/>
        </p:nvSpPr>
        <p:spPr>
          <a:xfrm>
            <a:off x="4572000" y="3176625"/>
            <a:ext cx="2107406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Se debe cerrar sesión y permitir login con otro usuario. Datos guardados en Django</a:t>
            </a:r>
            <a:endParaRPr lang="en-US" sz="621" dirty="0"/>
          </a:p>
        </p:txBody>
      </p:sp>
      <p:sp>
        <p:nvSpPr>
          <p:cNvPr id="64" name="Shape 60"/>
          <p:cNvSpPr/>
          <p:nvPr/>
        </p:nvSpPr>
        <p:spPr>
          <a:xfrm>
            <a:off x="6750844" y="3295557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5" name="Shape 61"/>
          <p:cNvSpPr/>
          <p:nvPr/>
        </p:nvSpPr>
        <p:spPr>
          <a:xfrm>
            <a:off x="6750844" y="3295557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6" name="Text 62"/>
          <p:cNvSpPr/>
          <p:nvPr/>
        </p:nvSpPr>
        <p:spPr>
          <a:xfrm>
            <a:off x="6750844" y="3295557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67" name="Shape 63"/>
          <p:cNvSpPr/>
          <p:nvPr/>
        </p:nvSpPr>
        <p:spPr>
          <a:xfrm>
            <a:off x="357188" y="4413442"/>
            <a:ext cx="8429625" cy="37287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8" name="Shape 64"/>
          <p:cNvSpPr/>
          <p:nvPr/>
        </p:nvSpPr>
        <p:spPr>
          <a:xfrm>
            <a:off x="357188" y="4413442"/>
            <a:ext cx="8429625" cy="1428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9" name="Text 65"/>
          <p:cNvSpPr/>
          <p:nvPr/>
        </p:nvSpPr>
        <p:spPr>
          <a:xfrm>
            <a:off x="357188" y="4413442"/>
            <a:ext cx="8429625" cy="372870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Observaciones:</a:t>
            </a:r>
            <a:r>
              <a:rPr lang="en-US" sz="568" dirty="0">
                <a:solidFill>
                  <a:srgbClr val="2C2C2C"/>
                </a:solidFill>
              </a:rPr>
              <a:t> El caso 15 (Cancelar reserva activa) está pendiente debido a que depende de la resolución del caso 13 (Completar reserva válida). Los casos 16-20 muestran resultados positivos, indicando que las funcionalidades de carrito de compras, validaciones y cierre de sesión funcionan correctamente en la aplicación móvil.</a:t>
            </a:r>
            <a:endParaRPr lang="en-US" sz="5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768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884039"/>
            <a:ext cx="8286750" cy="21431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73273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0100" y="428625"/>
            <a:ext cx="266473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Testeo de la Página Web</a:t>
            </a:r>
            <a:endParaRPr lang="en-US" sz="1602" dirty="0"/>
          </a:p>
        </p:txBody>
      </p:sp>
      <p:sp>
        <p:nvSpPr>
          <p:cNvPr id="7" name="Text 3"/>
          <p:cNvSpPr/>
          <p:nvPr/>
        </p:nvSpPr>
        <p:spPr>
          <a:xfrm>
            <a:off x="428625" y="1169789"/>
            <a:ext cx="51006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C41E3A"/>
                </a:solidFill>
              </a:rPr>
              <a:t>Enfoque de Testeo</a:t>
            </a:r>
            <a:endParaRPr lang="en-US" sz="683" dirty="0"/>
          </a:p>
        </p:txBody>
      </p:sp>
      <p:sp>
        <p:nvSpPr>
          <p:cNvPr id="8" name="Text 4"/>
          <p:cNvSpPr/>
          <p:nvPr/>
        </p:nvSpPr>
        <p:spPr>
          <a:xfrm>
            <a:off x="428625" y="1376958"/>
            <a:ext cx="5100638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Se aplicaron </a:t>
            </a:r>
            <a:r>
              <a:rPr lang="en-US" sz="634" b="1" dirty="0">
                <a:solidFill>
                  <a:srgbClr val="C41E3A"/>
                </a:solidFill>
              </a:rPr>
              <a:t>pruebas funcionales, unitarias, integración y validación</a:t>
            </a:r>
            <a:r>
              <a:rPr lang="en-US" sz="674" dirty="0">
                <a:solidFill>
                  <a:srgbClr val="2C2C2C"/>
                </a:solidFill>
              </a:rPr>
              <a:t> para el sitio web (desarrollado en </a:t>
            </a:r>
            <a:r>
              <a:rPr lang="en-US" sz="634" b="1" dirty="0">
                <a:solidFill>
                  <a:srgbClr val="C41E3A"/>
                </a:solidFill>
              </a:rPr>
              <a:t>Django</a:t>
            </a:r>
            <a:r>
              <a:rPr lang="en-US" sz="674" dirty="0">
                <a:solidFill>
                  <a:srgbClr val="2C2C2C"/>
                </a:solidFill>
              </a:rPr>
              <a:t>). Incluye flujos de usuario, gestión de productos, reservas y procesamiento de pagos.</a:t>
            </a:r>
            <a:endParaRPr lang="en-US" sz="674" dirty="0"/>
          </a:p>
        </p:txBody>
      </p:sp>
      <p:sp>
        <p:nvSpPr>
          <p:cNvPr id="9" name="Text 5"/>
          <p:cNvSpPr/>
          <p:nvPr/>
        </p:nvSpPr>
        <p:spPr>
          <a:xfrm>
            <a:off x="428625" y="1974131"/>
            <a:ext cx="51006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C41E3A"/>
                </a:solidFill>
              </a:rPr>
              <a:t>Tipos de Pruebas Aplicadas</a:t>
            </a:r>
            <a:endParaRPr lang="en-US" sz="683" dirty="0"/>
          </a:p>
        </p:txBody>
      </p:sp>
      <p:sp>
        <p:nvSpPr>
          <p:cNvPr id="10" name="Text 6"/>
          <p:cNvSpPr/>
          <p:nvPr/>
        </p:nvSpPr>
        <p:spPr>
          <a:xfrm>
            <a:off x="428625" y="2181299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▸</a:t>
            </a:r>
            <a:endParaRPr lang="en-US" sz="634" dirty="0"/>
          </a:p>
        </p:txBody>
      </p:sp>
      <p:sp>
        <p:nvSpPr>
          <p:cNvPr id="11" name="Text 7"/>
          <p:cNvSpPr/>
          <p:nvPr/>
        </p:nvSpPr>
        <p:spPr>
          <a:xfrm>
            <a:off x="607219" y="2181299"/>
            <a:ext cx="57950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Funcionales:</a:t>
            </a:r>
            <a:endParaRPr lang="en-US" sz="634" dirty="0"/>
          </a:p>
        </p:txBody>
      </p:sp>
      <p:sp>
        <p:nvSpPr>
          <p:cNvPr id="12" name="Text 8"/>
          <p:cNvSpPr/>
          <p:nvPr/>
        </p:nvSpPr>
        <p:spPr>
          <a:xfrm>
            <a:off x="1186728" y="2181299"/>
            <a:ext cx="21074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Validar flujos de usuario y funcionalidades clave</a:t>
            </a:r>
            <a:endParaRPr lang="en-US" sz="674" dirty="0"/>
          </a:p>
        </p:txBody>
      </p:sp>
      <p:sp>
        <p:nvSpPr>
          <p:cNvPr id="13" name="Text 9"/>
          <p:cNvSpPr/>
          <p:nvPr/>
        </p:nvSpPr>
        <p:spPr>
          <a:xfrm>
            <a:off x="428625" y="2350963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▸</a:t>
            </a:r>
            <a:endParaRPr lang="en-US" sz="634" dirty="0"/>
          </a:p>
        </p:txBody>
      </p:sp>
      <p:sp>
        <p:nvSpPr>
          <p:cNvPr id="14" name="Text 10"/>
          <p:cNvSpPr/>
          <p:nvPr/>
        </p:nvSpPr>
        <p:spPr>
          <a:xfrm>
            <a:off x="607219" y="2350963"/>
            <a:ext cx="4551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Unitarias:</a:t>
            </a:r>
            <a:endParaRPr lang="en-US" sz="634" dirty="0"/>
          </a:p>
        </p:txBody>
      </p:sp>
      <p:sp>
        <p:nvSpPr>
          <p:cNvPr id="15" name="Text 11"/>
          <p:cNvSpPr/>
          <p:nvPr/>
        </p:nvSpPr>
        <p:spPr>
          <a:xfrm>
            <a:off x="1062382" y="2350963"/>
            <a:ext cx="224531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Verificar componentes individuales de la aplicación</a:t>
            </a:r>
            <a:endParaRPr lang="en-US" sz="674" dirty="0"/>
          </a:p>
        </p:txBody>
      </p:sp>
      <p:sp>
        <p:nvSpPr>
          <p:cNvPr id="16" name="Text 12"/>
          <p:cNvSpPr/>
          <p:nvPr/>
        </p:nvSpPr>
        <p:spPr>
          <a:xfrm>
            <a:off x="428625" y="2520628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▸</a:t>
            </a:r>
            <a:endParaRPr lang="en-US" sz="634" dirty="0"/>
          </a:p>
        </p:txBody>
      </p:sp>
      <p:sp>
        <p:nvSpPr>
          <p:cNvPr id="17" name="Text 13"/>
          <p:cNvSpPr/>
          <p:nvPr/>
        </p:nvSpPr>
        <p:spPr>
          <a:xfrm>
            <a:off x="607219" y="2520628"/>
            <a:ext cx="56857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Integración:</a:t>
            </a:r>
            <a:endParaRPr lang="en-US" sz="634" dirty="0"/>
          </a:p>
        </p:txBody>
      </p:sp>
      <p:sp>
        <p:nvSpPr>
          <p:cNvPr id="18" name="Text 14"/>
          <p:cNvSpPr/>
          <p:nvPr/>
        </p:nvSpPr>
        <p:spPr>
          <a:xfrm>
            <a:off x="1175789" y="2520628"/>
            <a:ext cx="228597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Probar integraciones con Transbank y APIs externas</a:t>
            </a:r>
            <a:endParaRPr lang="en-US" sz="674" dirty="0"/>
          </a:p>
        </p:txBody>
      </p:sp>
      <p:sp>
        <p:nvSpPr>
          <p:cNvPr id="19" name="Text 15"/>
          <p:cNvSpPr/>
          <p:nvPr/>
        </p:nvSpPr>
        <p:spPr>
          <a:xfrm>
            <a:off x="428625" y="2690292"/>
            <a:ext cx="464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▸</a:t>
            </a:r>
            <a:endParaRPr lang="en-US" sz="634" dirty="0"/>
          </a:p>
        </p:txBody>
      </p:sp>
      <p:sp>
        <p:nvSpPr>
          <p:cNvPr id="20" name="Text 16"/>
          <p:cNvSpPr/>
          <p:nvPr/>
        </p:nvSpPr>
        <p:spPr>
          <a:xfrm>
            <a:off x="607219" y="2690292"/>
            <a:ext cx="5071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Validación:</a:t>
            </a:r>
            <a:endParaRPr lang="en-US" sz="634" dirty="0"/>
          </a:p>
        </p:txBody>
      </p:sp>
      <p:sp>
        <p:nvSpPr>
          <p:cNvPr id="21" name="Text 17"/>
          <p:cNvSpPr/>
          <p:nvPr/>
        </p:nvSpPr>
        <p:spPr>
          <a:xfrm>
            <a:off x="1114397" y="2690292"/>
            <a:ext cx="224009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Verificar campos, restricciones y mensajes de error</a:t>
            </a:r>
            <a:endParaRPr lang="en-US" sz="674" dirty="0"/>
          </a:p>
        </p:txBody>
      </p:sp>
      <p:sp>
        <p:nvSpPr>
          <p:cNvPr id="22" name="Text 18"/>
          <p:cNvSpPr/>
          <p:nvPr/>
        </p:nvSpPr>
        <p:spPr>
          <a:xfrm>
            <a:off x="428625" y="3117131"/>
            <a:ext cx="51006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C41E3A"/>
                </a:solidFill>
              </a:rPr>
              <a:t>Casos de Prueba Realizados</a:t>
            </a:r>
            <a:endParaRPr lang="en-US" sz="683" dirty="0"/>
          </a:p>
        </p:txBody>
      </p:sp>
      <p:sp>
        <p:nvSpPr>
          <p:cNvPr id="23" name="Text 19"/>
          <p:cNvSpPr/>
          <p:nvPr/>
        </p:nvSpPr>
        <p:spPr>
          <a:xfrm>
            <a:off x="428625" y="3324299"/>
            <a:ext cx="5100638" cy="4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A continuación, se detallan los </a:t>
            </a:r>
            <a:r>
              <a:rPr lang="en-US" sz="634" b="1" dirty="0">
                <a:solidFill>
                  <a:srgbClr val="C41E3A"/>
                </a:solidFill>
              </a:rPr>
              <a:t>9 casos de prueba</a:t>
            </a:r>
            <a:r>
              <a:rPr lang="en-US" sz="674" dirty="0">
                <a:solidFill>
                  <a:srgbClr val="2C2C2C"/>
                </a:solidFill>
              </a:rPr>
              <a:t> extraídos de los documentos, con descripciones, tipos, resultados esperados y finales. Las pruebas cubren autenticación, reservas, gestión de productos, pagos con Transbank y funcionalidades de administrador.</a:t>
            </a:r>
            <a:endParaRPr lang="en-US" sz="674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40E2C4CC-0291-263C-10B7-878DF1BD3F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3213" y="1446567"/>
            <a:ext cx="3125037" cy="18062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8609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57188" y="357188"/>
            <a:ext cx="8429625" cy="40183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357188" y="737592"/>
            <a:ext cx="8429625" cy="21431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8" y="405408"/>
            <a:ext cx="155600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19944" y="357188"/>
            <a:ext cx="2874159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Casos de Prueba - Página Web</a:t>
            </a:r>
            <a:endParaRPr lang="en-US" sz="1397" dirty="0"/>
          </a:p>
        </p:txBody>
      </p:sp>
      <p:sp>
        <p:nvSpPr>
          <p:cNvPr id="7" name="Shape 3"/>
          <p:cNvSpPr/>
          <p:nvPr/>
        </p:nvSpPr>
        <p:spPr>
          <a:xfrm>
            <a:off x="357188" y="951905"/>
            <a:ext cx="8429625" cy="287536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4"/>
          <p:cNvSpPr/>
          <p:nvPr/>
        </p:nvSpPr>
        <p:spPr>
          <a:xfrm>
            <a:off x="357188" y="951905"/>
            <a:ext cx="421481" cy="28753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N°</a:t>
            </a:r>
            <a:endParaRPr lang="en-US" sz="584" dirty="0"/>
          </a:p>
        </p:txBody>
      </p:sp>
      <p:sp>
        <p:nvSpPr>
          <p:cNvPr id="9" name="Text 5"/>
          <p:cNvSpPr/>
          <p:nvPr/>
        </p:nvSpPr>
        <p:spPr>
          <a:xfrm>
            <a:off x="778669" y="951905"/>
            <a:ext cx="2360284" cy="28753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Descripción</a:t>
            </a:r>
            <a:endParaRPr lang="en-US" sz="584" dirty="0"/>
          </a:p>
        </p:txBody>
      </p:sp>
      <p:sp>
        <p:nvSpPr>
          <p:cNvPr id="10" name="Text 6"/>
          <p:cNvSpPr/>
          <p:nvPr/>
        </p:nvSpPr>
        <p:spPr>
          <a:xfrm>
            <a:off x="3138953" y="951905"/>
            <a:ext cx="1180142" cy="28753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Tipo</a:t>
            </a:r>
            <a:endParaRPr lang="en-US" sz="584" dirty="0"/>
          </a:p>
        </p:txBody>
      </p:sp>
      <p:sp>
        <p:nvSpPr>
          <p:cNvPr id="11" name="Text 7"/>
          <p:cNvSpPr/>
          <p:nvPr/>
        </p:nvSpPr>
        <p:spPr>
          <a:xfrm>
            <a:off x="4319095" y="951905"/>
            <a:ext cx="2191680" cy="28753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Resultado Esperado</a:t>
            </a:r>
            <a:endParaRPr lang="en-US" sz="584" dirty="0"/>
          </a:p>
        </p:txBody>
      </p:sp>
      <p:sp>
        <p:nvSpPr>
          <p:cNvPr id="12" name="Text 8"/>
          <p:cNvSpPr/>
          <p:nvPr/>
        </p:nvSpPr>
        <p:spPr>
          <a:xfrm>
            <a:off x="6510775" y="951905"/>
            <a:ext cx="2276038" cy="287536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Resultado Final</a:t>
            </a:r>
            <a:endParaRPr lang="en-US" sz="584" dirty="0"/>
          </a:p>
        </p:txBody>
      </p:sp>
      <p:sp>
        <p:nvSpPr>
          <p:cNvPr id="13" name="Shape 9"/>
          <p:cNvSpPr/>
          <p:nvPr/>
        </p:nvSpPr>
        <p:spPr>
          <a:xfrm>
            <a:off x="357188" y="1239441"/>
            <a:ext cx="8429625" cy="29501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0"/>
          <p:cNvSpPr/>
          <p:nvPr/>
        </p:nvSpPr>
        <p:spPr>
          <a:xfrm>
            <a:off x="357188" y="1527311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1"/>
          <p:cNvSpPr/>
          <p:nvPr/>
        </p:nvSpPr>
        <p:spPr>
          <a:xfrm>
            <a:off x="357188" y="1239441"/>
            <a:ext cx="421481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1</a:t>
            </a:r>
            <a:endParaRPr lang="en-US" sz="584" dirty="0"/>
          </a:p>
        </p:txBody>
      </p:sp>
      <p:sp>
        <p:nvSpPr>
          <p:cNvPr id="16" name="Text 12"/>
          <p:cNvSpPr/>
          <p:nvPr/>
        </p:nvSpPr>
        <p:spPr>
          <a:xfrm>
            <a:off x="778669" y="1239441"/>
            <a:ext cx="2360284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Inicio de sesión con credenciales válidas</a:t>
            </a:r>
            <a:endParaRPr lang="en-US" sz="621" dirty="0"/>
          </a:p>
        </p:txBody>
      </p:sp>
      <p:sp>
        <p:nvSpPr>
          <p:cNvPr id="17" name="Text 13"/>
          <p:cNvSpPr/>
          <p:nvPr/>
        </p:nvSpPr>
        <p:spPr>
          <a:xfrm>
            <a:off x="3138953" y="1239441"/>
            <a:ext cx="1180142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Funcional</a:t>
            </a:r>
            <a:endParaRPr lang="en-US" sz="584" dirty="0"/>
          </a:p>
        </p:txBody>
      </p:sp>
      <p:sp>
        <p:nvSpPr>
          <p:cNvPr id="18" name="Text 14"/>
          <p:cNvSpPr/>
          <p:nvPr/>
        </p:nvSpPr>
        <p:spPr>
          <a:xfrm>
            <a:off x="4319095" y="1239441"/>
            <a:ext cx="2191680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El usuario entra a su cuenta de forma exitosa</a:t>
            </a:r>
            <a:endParaRPr lang="en-US" sz="621" dirty="0"/>
          </a:p>
        </p:txBody>
      </p:sp>
      <p:sp>
        <p:nvSpPr>
          <p:cNvPr id="19" name="Shape 15"/>
          <p:cNvSpPr/>
          <p:nvPr/>
        </p:nvSpPr>
        <p:spPr>
          <a:xfrm>
            <a:off x="6582212" y="1298377"/>
            <a:ext cx="513792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6"/>
          <p:cNvSpPr/>
          <p:nvPr/>
        </p:nvSpPr>
        <p:spPr>
          <a:xfrm>
            <a:off x="6582212" y="1298377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Text 17"/>
          <p:cNvSpPr/>
          <p:nvPr/>
        </p:nvSpPr>
        <p:spPr>
          <a:xfrm>
            <a:off x="6582212" y="1298377"/>
            <a:ext cx="513792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Positivo*</a:t>
            </a:r>
            <a:endParaRPr lang="en-US" sz="584" dirty="0"/>
          </a:p>
        </p:txBody>
      </p:sp>
      <p:sp>
        <p:nvSpPr>
          <p:cNvPr id="22" name="Shape 18"/>
          <p:cNvSpPr/>
          <p:nvPr/>
        </p:nvSpPr>
        <p:spPr>
          <a:xfrm>
            <a:off x="357188" y="1530883"/>
            <a:ext cx="8429625" cy="4150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3" name="Shape 19"/>
          <p:cNvSpPr/>
          <p:nvPr/>
        </p:nvSpPr>
        <p:spPr>
          <a:xfrm>
            <a:off x="357188" y="1938747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4" name="Text 20"/>
          <p:cNvSpPr/>
          <p:nvPr/>
        </p:nvSpPr>
        <p:spPr>
          <a:xfrm>
            <a:off x="357188" y="1530883"/>
            <a:ext cx="421481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2</a:t>
            </a:r>
            <a:endParaRPr lang="en-US" sz="584" dirty="0"/>
          </a:p>
        </p:txBody>
      </p:sp>
      <p:sp>
        <p:nvSpPr>
          <p:cNvPr id="25" name="Text 21"/>
          <p:cNvSpPr/>
          <p:nvPr/>
        </p:nvSpPr>
        <p:spPr>
          <a:xfrm>
            <a:off x="778669" y="1530883"/>
            <a:ext cx="2360284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Reservar hora y servicio</a:t>
            </a:r>
            <a:endParaRPr lang="en-US" sz="621" dirty="0"/>
          </a:p>
        </p:txBody>
      </p:sp>
      <p:sp>
        <p:nvSpPr>
          <p:cNvPr id="26" name="Text 22"/>
          <p:cNvSpPr/>
          <p:nvPr/>
        </p:nvSpPr>
        <p:spPr>
          <a:xfrm>
            <a:off x="3138953" y="1530883"/>
            <a:ext cx="1180142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Funcional</a:t>
            </a:r>
            <a:endParaRPr lang="en-US" sz="584" dirty="0"/>
          </a:p>
        </p:txBody>
      </p:sp>
      <p:sp>
        <p:nvSpPr>
          <p:cNvPr id="27" name="Text 23"/>
          <p:cNvSpPr/>
          <p:nvPr/>
        </p:nvSpPr>
        <p:spPr>
          <a:xfrm>
            <a:off x="4319095" y="1530883"/>
            <a:ext cx="2191680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Las reservas se registran con éxito, enviando correo a la barbería</a:t>
            </a:r>
            <a:endParaRPr lang="en-US" sz="621" dirty="0"/>
          </a:p>
        </p:txBody>
      </p:sp>
      <p:sp>
        <p:nvSpPr>
          <p:cNvPr id="28" name="Shape 24"/>
          <p:cNvSpPr/>
          <p:nvPr/>
        </p:nvSpPr>
        <p:spPr>
          <a:xfrm>
            <a:off x="6582212" y="1649816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Shape 25"/>
          <p:cNvSpPr/>
          <p:nvPr/>
        </p:nvSpPr>
        <p:spPr>
          <a:xfrm>
            <a:off x="6582212" y="1649816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26"/>
          <p:cNvSpPr/>
          <p:nvPr/>
        </p:nvSpPr>
        <p:spPr>
          <a:xfrm>
            <a:off x="6582212" y="1649816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31" name="Shape 27"/>
          <p:cNvSpPr/>
          <p:nvPr/>
        </p:nvSpPr>
        <p:spPr>
          <a:xfrm>
            <a:off x="357188" y="1942319"/>
            <a:ext cx="8429625" cy="41500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2" name="Shape 28"/>
          <p:cNvSpPr/>
          <p:nvPr/>
        </p:nvSpPr>
        <p:spPr>
          <a:xfrm>
            <a:off x="357188" y="2350182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3" name="Text 29"/>
          <p:cNvSpPr/>
          <p:nvPr/>
        </p:nvSpPr>
        <p:spPr>
          <a:xfrm>
            <a:off x="357188" y="1942319"/>
            <a:ext cx="421481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3</a:t>
            </a:r>
            <a:endParaRPr lang="en-US" sz="584" dirty="0"/>
          </a:p>
        </p:txBody>
      </p:sp>
      <p:sp>
        <p:nvSpPr>
          <p:cNvPr id="34" name="Text 30"/>
          <p:cNvSpPr/>
          <p:nvPr/>
        </p:nvSpPr>
        <p:spPr>
          <a:xfrm>
            <a:off x="778669" y="1942319"/>
            <a:ext cx="2360284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Gestionar productos o servicios</a:t>
            </a:r>
            <a:endParaRPr lang="en-US" sz="621" dirty="0"/>
          </a:p>
        </p:txBody>
      </p:sp>
      <p:sp>
        <p:nvSpPr>
          <p:cNvPr id="35" name="Text 31"/>
          <p:cNvSpPr/>
          <p:nvPr/>
        </p:nvSpPr>
        <p:spPr>
          <a:xfrm>
            <a:off x="3138953" y="1942319"/>
            <a:ext cx="1180142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Funcional</a:t>
            </a:r>
            <a:endParaRPr lang="en-US" sz="584" dirty="0"/>
          </a:p>
        </p:txBody>
      </p:sp>
      <p:sp>
        <p:nvSpPr>
          <p:cNvPr id="36" name="Text 32"/>
          <p:cNvSpPr/>
          <p:nvPr/>
        </p:nvSpPr>
        <p:spPr>
          <a:xfrm>
            <a:off x="4319095" y="1942319"/>
            <a:ext cx="2191680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El sistema permite crear, modificar y eliminar productos/servicios</a:t>
            </a:r>
            <a:endParaRPr lang="en-US" sz="621" dirty="0"/>
          </a:p>
        </p:txBody>
      </p:sp>
      <p:sp>
        <p:nvSpPr>
          <p:cNvPr id="37" name="Shape 33"/>
          <p:cNvSpPr/>
          <p:nvPr/>
        </p:nvSpPr>
        <p:spPr>
          <a:xfrm>
            <a:off x="6582212" y="2061251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8" name="Shape 34"/>
          <p:cNvSpPr/>
          <p:nvPr/>
        </p:nvSpPr>
        <p:spPr>
          <a:xfrm>
            <a:off x="6582212" y="2061251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9" name="Text 35"/>
          <p:cNvSpPr/>
          <p:nvPr/>
        </p:nvSpPr>
        <p:spPr>
          <a:xfrm>
            <a:off x="6582212" y="2061251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40" name="Shape 36"/>
          <p:cNvSpPr/>
          <p:nvPr/>
        </p:nvSpPr>
        <p:spPr>
          <a:xfrm>
            <a:off x="357188" y="2353754"/>
            <a:ext cx="8429625" cy="4150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1" name="Shape 37"/>
          <p:cNvSpPr/>
          <p:nvPr/>
        </p:nvSpPr>
        <p:spPr>
          <a:xfrm>
            <a:off x="357188" y="2761617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Text 38"/>
          <p:cNvSpPr/>
          <p:nvPr/>
        </p:nvSpPr>
        <p:spPr>
          <a:xfrm>
            <a:off x="357188" y="2353754"/>
            <a:ext cx="421481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4</a:t>
            </a:r>
            <a:endParaRPr lang="en-US" sz="584" dirty="0"/>
          </a:p>
        </p:txBody>
      </p:sp>
      <p:sp>
        <p:nvSpPr>
          <p:cNvPr id="43" name="Text 39"/>
          <p:cNvSpPr/>
          <p:nvPr/>
        </p:nvSpPr>
        <p:spPr>
          <a:xfrm>
            <a:off x="778669" y="2353754"/>
            <a:ext cx="2360284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Realizar compra de producto a través de Transbank</a:t>
            </a:r>
            <a:endParaRPr lang="en-US" sz="621" dirty="0"/>
          </a:p>
        </p:txBody>
      </p:sp>
      <p:sp>
        <p:nvSpPr>
          <p:cNvPr id="44" name="Text 40"/>
          <p:cNvSpPr/>
          <p:nvPr/>
        </p:nvSpPr>
        <p:spPr>
          <a:xfrm>
            <a:off x="3138953" y="2353754"/>
            <a:ext cx="1180142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Integración/Funcional</a:t>
            </a:r>
            <a:endParaRPr lang="en-US" sz="584" dirty="0"/>
          </a:p>
        </p:txBody>
      </p:sp>
      <p:sp>
        <p:nvSpPr>
          <p:cNvPr id="45" name="Text 41"/>
          <p:cNvSpPr/>
          <p:nvPr/>
        </p:nvSpPr>
        <p:spPr>
          <a:xfrm>
            <a:off x="4319095" y="2353754"/>
            <a:ext cx="2191680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La compra se procesa y muestra página con número de compra</a:t>
            </a:r>
            <a:endParaRPr lang="en-US" sz="621" dirty="0"/>
          </a:p>
        </p:txBody>
      </p:sp>
      <p:sp>
        <p:nvSpPr>
          <p:cNvPr id="46" name="Shape 42"/>
          <p:cNvSpPr/>
          <p:nvPr/>
        </p:nvSpPr>
        <p:spPr>
          <a:xfrm>
            <a:off x="6582212" y="2472686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7" name="Shape 43"/>
          <p:cNvSpPr/>
          <p:nvPr/>
        </p:nvSpPr>
        <p:spPr>
          <a:xfrm>
            <a:off x="6582212" y="2472686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8" name="Text 44"/>
          <p:cNvSpPr/>
          <p:nvPr/>
        </p:nvSpPr>
        <p:spPr>
          <a:xfrm>
            <a:off x="6582212" y="2472686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49" name="Shape 45"/>
          <p:cNvSpPr/>
          <p:nvPr/>
        </p:nvSpPr>
        <p:spPr>
          <a:xfrm>
            <a:off x="357188" y="2765189"/>
            <a:ext cx="8429625" cy="41500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0" name="Shape 46"/>
          <p:cNvSpPr/>
          <p:nvPr/>
        </p:nvSpPr>
        <p:spPr>
          <a:xfrm>
            <a:off x="357188" y="3173053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1" name="Text 47"/>
          <p:cNvSpPr/>
          <p:nvPr/>
        </p:nvSpPr>
        <p:spPr>
          <a:xfrm>
            <a:off x="357188" y="2765189"/>
            <a:ext cx="421481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5</a:t>
            </a:r>
            <a:endParaRPr lang="en-US" sz="584" dirty="0"/>
          </a:p>
        </p:txBody>
      </p:sp>
      <p:sp>
        <p:nvSpPr>
          <p:cNvPr id="52" name="Text 48"/>
          <p:cNvSpPr/>
          <p:nvPr/>
        </p:nvSpPr>
        <p:spPr>
          <a:xfrm>
            <a:off x="778669" y="2765189"/>
            <a:ext cx="2360284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Cerrar sesión</a:t>
            </a:r>
            <a:endParaRPr lang="en-US" sz="621" dirty="0"/>
          </a:p>
        </p:txBody>
      </p:sp>
      <p:sp>
        <p:nvSpPr>
          <p:cNvPr id="53" name="Text 49"/>
          <p:cNvSpPr/>
          <p:nvPr/>
        </p:nvSpPr>
        <p:spPr>
          <a:xfrm>
            <a:off x="3138953" y="2765189"/>
            <a:ext cx="1180142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Funcional</a:t>
            </a:r>
            <a:endParaRPr lang="en-US" sz="584" dirty="0"/>
          </a:p>
        </p:txBody>
      </p:sp>
      <p:sp>
        <p:nvSpPr>
          <p:cNvPr id="54" name="Text 50"/>
          <p:cNvSpPr/>
          <p:nvPr/>
        </p:nvSpPr>
        <p:spPr>
          <a:xfrm>
            <a:off x="4319095" y="2765189"/>
            <a:ext cx="2191680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La sesión se cierra correctamente al presionar el botón</a:t>
            </a:r>
            <a:endParaRPr lang="en-US" sz="621" dirty="0"/>
          </a:p>
        </p:txBody>
      </p:sp>
      <p:sp>
        <p:nvSpPr>
          <p:cNvPr id="55" name="Shape 51"/>
          <p:cNvSpPr/>
          <p:nvPr/>
        </p:nvSpPr>
        <p:spPr>
          <a:xfrm>
            <a:off x="6582212" y="2884122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6" name="Shape 52"/>
          <p:cNvSpPr/>
          <p:nvPr/>
        </p:nvSpPr>
        <p:spPr>
          <a:xfrm>
            <a:off x="6582212" y="2884122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7" name="Text 53"/>
          <p:cNvSpPr/>
          <p:nvPr/>
        </p:nvSpPr>
        <p:spPr>
          <a:xfrm>
            <a:off x="6582212" y="2884122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58" name="Shape 54"/>
          <p:cNvSpPr/>
          <p:nvPr/>
        </p:nvSpPr>
        <p:spPr>
          <a:xfrm>
            <a:off x="357188" y="3176625"/>
            <a:ext cx="8429625" cy="41500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59" name="Shape 55"/>
          <p:cNvSpPr/>
          <p:nvPr/>
        </p:nvSpPr>
        <p:spPr>
          <a:xfrm>
            <a:off x="357188" y="3584488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0" name="Text 56"/>
          <p:cNvSpPr/>
          <p:nvPr/>
        </p:nvSpPr>
        <p:spPr>
          <a:xfrm>
            <a:off x="357188" y="3176625"/>
            <a:ext cx="421481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6</a:t>
            </a:r>
            <a:endParaRPr lang="en-US" sz="584" dirty="0"/>
          </a:p>
        </p:txBody>
      </p:sp>
      <p:sp>
        <p:nvSpPr>
          <p:cNvPr id="61" name="Text 57"/>
          <p:cNvSpPr/>
          <p:nvPr/>
        </p:nvSpPr>
        <p:spPr>
          <a:xfrm>
            <a:off x="778669" y="3176625"/>
            <a:ext cx="2360284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Enviar mensaje a la barbería</a:t>
            </a:r>
            <a:endParaRPr lang="en-US" sz="621" dirty="0"/>
          </a:p>
        </p:txBody>
      </p:sp>
      <p:sp>
        <p:nvSpPr>
          <p:cNvPr id="62" name="Text 58"/>
          <p:cNvSpPr/>
          <p:nvPr/>
        </p:nvSpPr>
        <p:spPr>
          <a:xfrm>
            <a:off x="3138953" y="3176625"/>
            <a:ext cx="1180142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Unitaria</a:t>
            </a:r>
            <a:endParaRPr lang="en-US" sz="584" dirty="0"/>
          </a:p>
        </p:txBody>
      </p:sp>
      <p:sp>
        <p:nvSpPr>
          <p:cNvPr id="63" name="Text 59"/>
          <p:cNvSpPr/>
          <p:nvPr/>
        </p:nvSpPr>
        <p:spPr>
          <a:xfrm>
            <a:off x="4319095" y="3176625"/>
            <a:ext cx="2191680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El formulario envía mensaje por correo a la barbería</a:t>
            </a:r>
            <a:endParaRPr lang="en-US" sz="621" dirty="0"/>
          </a:p>
        </p:txBody>
      </p:sp>
      <p:sp>
        <p:nvSpPr>
          <p:cNvPr id="64" name="Shape 60"/>
          <p:cNvSpPr/>
          <p:nvPr/>
        </p:nvSpPr>
        <p:spPr>
          <a:xfrm>
            <a:off x="6582212" y="3295557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5" name="Shape 61"/>
          <p:cNvSpPr/>
          <p:nvPr/>
        </p:nvSpPr>
        <p:spPr>
          <a:xfrm>
            <a:off x="6582212" y="3295557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6" name="Text 62"/>
          <p:cNvSpPr/>
          <p:nvPr/>
        </p:nvSpPr>
        <p:spPr>
          <a:xfrm>
            <a:off x="6582212" y="3295557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67" name="Shape 63"/>
          <p:cNvSpPr/>
          <p:nvPr/>
        </p:nvSpPr>
        <p:spPr>
          <a:xfrm>
            <a:off x="357188" y="3588060"/>
            <a:ext cx="8429625" cy="295015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8" name="Shape 64"/>
          <p:cNvSpPr/>
          <p:nvPr/>
        </p:nvSpPr>
        <p:spPr>
          <a:xfrm>
            <a:off x="357188" y="3875931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9" name="Text 65"/>
          <p:cNvSpPr/>
          <p:nvPr/>
        </p:nvSpPr>
        <p:spPr>
          <a:xfrm>
            <a:off x="357188" y="3588060"/>
            <a:ext cx="421481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7</a:t>
            </a:r>
            <a:endParaRPr lang="en-US" sz="584" dirty="0"/>
          </a:p>
        </p:txBody>
      </p:sp>
      <p:sp>
        <p:nvSpPr>
          <p:cNvPr id="70" name="Text 66"/>
          <p:cNvSpPr/>
          <p:nvPr/>
        </p:nvSpPr>
        <p:spPr>
          <a:xfrm>
            <a:off x="778669" y="3588060"/>
            <a:ext cx="2360284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Agregar productos al carrito</a:t>
            </a:r>
            <a:endParaRPr lang="en-US" sz="621" dirty="0"/>
          </a:p>
        </p:txBody>
      </p:sp>
      <p:sp>
        <p:nvSpPr>
          <p:cNvPr id="71" name="Text 67"/>
          <p:cNvSpPr/>
          <p:nvPr/>
        </p:nvSpPr>
        <p:spPr>
          <a:xfrm>
            <a:off x="3138953" y="3588060"/>
            <a:ext cx="1180142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Funcional</a:t>
            </a:r>
            <a:endParaRPr lang="en-US" sz="584" dirty="0"/>
          </a:p>
        </p:txBody>
      </p:sp>
      <p:sp>
        <p:nvSpPr>
          <p:cNvPr id="72" name="Text 68"/>
          <p:cNvSpPr/>
          <p:nvPr/>
        </p:nvSpPr>
        <p:spPr>
          <a:xfrm>
            <a:off x="4319095" y="3588060"/>
            <a:ext cx="2191680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El carrito de compras permite agregar productos</a:t>
            </a:r>
            <a:endParaRPr lang="en-US" sz="621" dirty="0"/>
          </a:p>
        </p:txBody>
      </p:sp>
      <p:sp>
        <p:nvSpPr>
          <p:cNvPr id="73" name="Shape 69"/>
          <p:cNvSpPr/>
          <p:nvPr/>
        </p:nvSpPr>
        <p:spPr>
          <a:xfrm>
            <a:off x="6582212" y="3646996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4" name="Shape 70"/>
          <p:cNvSpPr/>
          <p:nvPr/>
        </p:nvSpPr>
        <p:spPr>
          <a:xfrm>
            <a:off x="6582212" y="3646996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5" name="Text 71"/>
          <p:cNvSpPr/>
          <p:nvPr/>
        </p:nvSpPr>
        <p:spPr>
          <a:xfrm>
            <a:off x="6582212" y="3646996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76" name="Shape 72"/>
          <p:cNvSpPr/>
          <p:nvPr/>
        </p:nvSpPr>
        <p:spPr>
          <a:xfrm>
            <a:off x="357188" y="3879503"/>
            <a:ext cx="8429625" cy="29501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7" name="Shape 73"/>
          <p:cNvSpPr/>
          <p:nvPr/>
        </p:nvSpPr>
        <p:spPr>
          <a:xfrm>
            <a:off x="357188" y="4167374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8" name="Text 74"/>
          <p:cNvSpPr/>
          <p:nvPr/>
        </p:nvSpPr>
        <p:spPr>
          <a:xfrm>
            <a:off x="357188" y="3879503"/>
            <a:ext cx="421481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8</a:t>
            </a:r>
            <a:endParaRPr lang="en-US" sz="584" dirty="0"/>
          </a:p>
        </p:txBody>
      </p:sp>
      <p:sp>
        <p:nvSpPr>
          <p:cNvPr id="79" name="Text 75"/>
          <p:cNvSpPr/>
          <p:nvPr/>
        </p:nvSpPr>
        <p:spPr>
          <a:xfrm>
            <a:off x="778669" y="3879503"/>
            <a:ext cx="2360284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Eliminar productos del carrito</a:t>
            </a:r>
            <a:endParaRPr lang="en-US" sz="621" dirty="0"/>
          </a:p>
        </p:txBody>
      </p:sp>
      <p:sp>
        <p:nvSpPr>
          <p:cNvPr id="80" name="Text 76"/>
          <p:cNvSpPr/>
          <p:nvPr/>
        </p:nvSpPr>
        <p:spPr>
          <a:xfrm>
            <a:off x="3138953" y="3879503"/>
            <a:ext cx="1180142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Funcional</a:t>
            </a:r>
            <a:endParaRPr lang="en-US" sz="584" dirty="0"/>
          </a:p>
        </p:txBody>
      </p:sp>
      <p:sp>
        <p:nvSpPr>
          <p:cNvPr id="81" name="Text 77"/>
          <p:cNvSpPr/>
          <p:nvPr/>
        </p:nvSpPr>
        <p:spPr>
          <a:xfrm>
            <a:off x="4319095" y="3879503"/>
            <a:ext cx="2191680" cy="291443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El carrito de compras permite eliminar productos</a:t>
            </a:r>
            <a:endParaRPr lang="en-US" sz="621" dirty="0"/>
          </a:p>
        </p:txBody>
      </p:sp>
      <p:sp>
        <p:nvSpPr>
          <p:cNvPr id="82" name="Shape 78"/>
          <p:cNvSpPr/>
          <p:nvPr/>
        </p:nvSpPr>
        <p:spPr>
          <a:xfrm>
            <a:off x="6582212" y="3938439"/>
            <a:ext cx="466911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3" name="Shape 79"/>
          <p:cNvSpPr/>
          <p:nvPr/>
        </p:nvSpPr>
        <p:spPr>
          <a:xfrm>
            <a:off x="6582212" y="3938439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4" name="Text 80"/>
          <p:cNvSpPr/>
          <p:nvPr/>
        </p:nvSpPr>
        <p:spPr>
          <a:xfrm>
            <a:off x="6582212" y="3938439"/>
            <a:ext cx="46691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</a:t>
            </a:r>
            <a:endParaRPr lang="en-US" sz="584" dirty="0"/>
          </a:p>
        </p:txBody>
      </p:sp>
      <p:sp>
        <p:nvSpPr>
          <p:cNvPr id="85" name="Shape 81"/>
          <p:cNvSpPr/>
          <p:nvPr/>
        </p:nvSpPr>
        <p:spPr>
          <a:xfrm>
            <a:off x="357188" y="4170945"/>
            <a:ext cx="8429625" cy="41500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6" name="Shape 82"/>
          <p:cNvSpPr/>
          <p:nvPr/>
        </p:nvSpPr>
        <p:spPr>
          <a:xfrm>
            <a:off x="357188" y="4578809"/>
            <a:ext cx="8429625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7" name="Text 83"/>
          <p:cNvSpPr/>
          <p:nvPr/>
        </p:nvSpPr>
        <p:spPr>
          <a:xfrm>
            <a:off x="357188" y="4170945"/>
            <a:ext cx="421481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C41E3A"/>
                </a:solidFill>
              </a:rPr>
              <a:t>9</a:t>
            </a:r>
            <a:endParaRPr lang="en-US" sz="584" dirty="0"/>
          </a:p>
        </p:txBody>
      </p:sp>
      <p:sp>
        <p:nvSpPr>
          <p:cNvPr id="88" name="Text 84"/>
          <p:cNvSpPr/>
          <p:nvPr/>
        </p:nvSpPr>
        <p:spPr>
          <a:xfrm>
            <a:off x="778669" y="4170945"/>
            <a:ext cx="2360284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Proceder al pago sin productos en el carro</a:t>
            </a:r>
            <a:endParaRPr lang="en-US" sz="621" dirty="0"/>
          </a:p>
        </p:txBody>
      </p:sp>
      <p:sp>
        <p:nvSpPr>
          <p:cNvPr id="89" name="Text 85"/>
          <p:cNvSpPr/>
          <p:nvPr/>
        </p:nvSpPr>
        <p:spPr>
          <a:xfrm>
            <a:off x="3138953" y="4170945"/>
            <a:ext cx="1180142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1A1A1A"/>
                </a:solidFill>
              </a:rPr>
              <a:t>Funcional</a:t>
            </a:r>
            <a:endParaRPr lang="en-US" sz="584" dirty="0"/>
          </a:p>
        </p:txBody>
      </p:sp>
      <p:sp>
        <p:nvSpPr>
          <p:cNvPr id="90" name="Text 86"/>
          <p:cNvSpPr/>
          <p:nvPr/>
        </p:nvSpPr>
        <p:spPr>
          <a:xfrm>
            <a:off x="4319095" y="4170945"/>
            <a:ext cx="2191680" cy="411435"/>
          </a:xfrm>
          <a:prstGeom prst="rect">
            <a:avLst/>
          </a:prstGeom>
          <a:noFill/>
          <a:ln/>
        </p:spPr>
        <p:txBody>
          <a:bodyPr wrap="square" lIns="85090" tIns="102108" rIns="85090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El carrito no permite continuar sin productos, con mensaje de error</a:t>
            </a:r>
            <a:endParaRPr lang="en-US" sz="621" dirty="0"/>
          </a:p>
        </p:txBody>
      </p:sp>
      <p:sp>
        <p:nvSpPr>
          <p:cNvPr id="91" name="Shape 87"/>
          <p:cNvSpPr/>
          <p:nvPr/>
        </p:nvSpPr>
        <p:spPr>
          <a:xfrm>
            <a:off x="6582212" y="4289878"/>
            <a:ext cx="560673" cy="173236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2" name="Shape 88"/>
          <p:cNvSpPr/>
          <p:nvPr/>
        </p:nvSpPr>
        <p:spPr>
          <a:xfrm>
            <a:off x="6582212" y="4289878"/>
            <a:ext cx="21431" cy="173236"/>
          </a:xfrm>
          <a:prstGeom prst="rect">
            <a:avLst/>
          </a:prstGeom>
          <a:solidFill>
            <a:srgbClr val="2D7A3E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3" name="Text 89"/>
          <p:cNvSpPr/>
          <p:nvPr/>
        </p:nvSpPr>
        <p:spPr>
          <a:xfrm>
            <a:off x="6582212" y="4289878"/>
            <a:ext cx="560673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84" b="1" dirty="0">
                <a:solidFill>
                  <a:srgbClr val="2D7A3E"/>
                </a:solidFill>
              </a:rPr>
              <a:t>Positivo**</a:t>
            </a:r>
            <a:endParaRPr lang="en-US" sz="584" dirty="0"/>
          </a:p>
        </p:txBody>
      </p:sp>
      <p:sp>
        <p:nvSpPr>
          <p:cNvPr id="94" name="Shape 90"/>
          <p:cNvSpPr/>
          <p:nvPr/>
        </p:nvSpPr>
        <p:spPr>
          <a:xfrm>
            <a:off x="357188" y="4725256"/>
            <a:ext cx="8429625" cy="51792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5" name="Shape 91"/>
          <p:cNvSpPr/>
          <p:nvPr/>
        </p:nvSpPr>
        <p:spPr>
          <a:xfrm>
            <a:off x="357188" y="4725256"/>
            <a:ext cx="8429625" cy="14288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6" name="Text 92"/>
          <p:cNvSpPr/>
          <p:nvPr/>
        </p:nvSpPr>
        <p:spPr>
          <a:xfrm>
            <a:off x="357188" y="4832412"/>
            <a:ext cx="84296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A1A1A"/>
                </a:solidFill>
              </a:rPr>
              <a:t>Observaciones:</a:t>
            </a:r>
            <a:endParaRPr lang="en-US" sz="534" dirty="0"/>
          </a:p>
        </p:txBody>
      </p:sp>
      <p:sp>
        <p:nvSpPr>
          <p:cNvPr id="97" name="Text 93"/>
          <p:cNvSpPr/>
          <p:nvPr/>
        </p:nvSpPr>
        <p:spPr>
          <a:xfrm>
            <a:off x="357188" y="4993146"/>
            <a:ext cx="84296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2C2C2C"/>
                </a:solidFill>
              </a:rPr>
              <a:t>* Caso 1: Faltan mensajes de validación en el formulario de login.</a:t>
            </a:r>
            <a:endParaRPr lang="en-US" sz="568" dirty="0"/>
          </a:p>
        </p:txBody>
      </p:sp>
      <p:sp>
        <p:nvSpPr>
          <p:cNvPr id="98" name="Text 94"/>
          <p:cNvSpPr/>
          <p:nvPr/>
        </p:nvSpPr>
        <p:spPr>
          <a:xfrm>
            <a:off x="357188" y="5111018"/>
            <a:ext cx="842962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2C2C2C"/>
                </a:solidFill>
              </a:rPr>
              <a:t>** Caso 9: El carrito impide continuar sin productos, pero aún falta un mensaje de error más explícito.</a:t>
            </a:r>
            <a:endParaRPr lang="en-US" sz="56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4177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428625"/>
            <a:ext cx="8286750" cy="47684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428625" y="884039"/>
            <a:ext cx="8286750" cy="21431"/>
          </a:xfrm>
          <a:prstGeom prst="rect">
            <a:avLst/>
          </a:prstGeom>
          <a:solidFill>
            <a:srgbClr val="C41E3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73273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0100" y="428625"/>
            <a:ext cx="3414824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Conclusiones y Próximos Pasos</a:t>
            </a:r>
            <a:endParaRPr lang="en-US" sz="160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850" y="1134070"/>
            <a:ext cx="2000250" cy="200025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28625" y="3277195"/>
            <a:ext cx="3314700" cy="33754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Shape 4"/>
          <p:cNvSpPr/>
          <p:nvPr/>
        </p:nvSpPr>
        <p:spPr>
          <a:xfrm>
            <a:off x="428625" y="3277195"/>
            <a:ext cx="21431" cy="33754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5"/>
          <p:cNvSpPr/>
          <p:nvPr/>
        </p:nvSpPr>
        <p:spPr>
          <a:xfrm>
            <a:off x="500063" y="3348633"/>
            <a:ext cx="285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C41E3A"/>
                </a:solidFill>
              </a:rPr>
              <a:t>29</a:t>
            </a:r>
            <a:endParaRPr lang="en-US" sz="987" dirty="0"/>
          </a:p>
        </p:txBody>
      </p:sp>
      <p:sp>
        <p:nvSpPr>
          <p:cNvPr id="11" name="Text 6"/>
          <p:cNvSpPr/>
          <p:nvPr/>
        </p:nvSpPr>
        <p:spPr>
          <a:xfrm>
            <a:off x="857250" y="3382566"/>
            <a:ext cx="66626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Casos Positivos</a:t>
            </a:r>
            <a:endParaRPr lang="en-US" sz="674" dirty="0"/>
          </a:p>
        </p:txBody>
      </p:sp>
      <p:sp>
        <p:nvSpPr>
          <p:cNvPr id="12" name="Shape 7"/>
          <p:cNvSpPr/>
          <p:nvPr/>
        </p:nvSpPr>
        <p:spPr>
          <a:xfrm>
            <a:off x="428625" y="3721894"/>
            <a:ext cx="3314700" cy="33754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8"/>
          <p:cNvSpPr/>
          <p:nvPr/>
        </p:nvSpPr>
        <p:spPr>
          <a:xfrm>
            <a:off x="428625" y="3721894"/>
            <a:ext cx="21431" cy="33754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Text 9"/>
          <p:cNvSpPr/>
          <p:nvPr/>
        </p:nvSpPr>
        <p:spPr>
          <a:xfrm>
            <a:off x="500063" y="3793331"/>
            <a:ext cx="285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C41E3A"/>
                </a:solidFill>
              </a:rPr>
              <a:t>5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857250" y="3827264"/>
            <a:ext cx="76728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Casos Pendientes</a:t>
            </a:r>
            <a:endParaRPr lang="en-US" sz="674" dirty="0"/>
          </a:p>
        </p:txBody>
      </p:sp>
      <p:sp>
        <p:nvSpPr>
          <p:cNvPr id="16" name="Shape 11"/>
          <p:cNvSpPr/>
          <p:nvPr/>
        </p:nvSpPr>
        <p:spPr>
          <a:xfrm>
            <a:off x="428625" y="4166592"/>
            <a:ext cx="3314700" cy="33754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Shape 12"/>
          <p:cNvSpPr/>
          <p:nvPr/>
        </p:nvSpPr>
        <p:spPr>
          <a:xfrm>
            <a:off x="428625" y="4166592"/>
            <a:ext cx="21431" cy="33754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8" name="Text 13"/>
          <p:cNvSpPr/>
          <p:nvPr/>
        </p:nvSpPr>
        <p:spPr>
          <a:xfrm>
            <a:off x="500063" y="4238030"/>
            <a:ext cx="285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C41E3A"/>
                </a:solidFill>
              </a:rPr>
              <a:t>2</a:t>
            </a:r>
            <a:endParaRPr lang="en-US" sz="987" dirty="0"/>
          </a:p>
        </p:txBody>
      </p:sp>
      <p:sp>
        <p:nvSpPr>
          <p:cNvPr id="19" name="Text 14"/>
          <p:cNvSpPr/>
          <p:nvPr/>
        </p:nvSpPr>
        <p:spPr>
          <a:xfrm>
            <a:off x="857250" y="4271963"/>
            <a:ext cx="71761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74" dirty="0">
                <a:solidFill>
                  <a:srgbClr val="2C2C2C"/>
                </a:solidFill>
              </a:rPr>
              <a:t>Casos Negativos</a:t>
            </a:r>
            <a:endParaRPr lang="en-US" sz="674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9075" y="1160859"/>
            <a:ext cx="150019" cy="1428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250531" y="1153716"/>
            <a:ext cx="16383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1A1A1A"/>
                </a:solidFill>
              </a:rPr>
              <a:t>Resumen de Resultados</a:t>
            </a:r>
            <a:endParaRPr lang="en-US" sz="784" dirty="0"/>
          </a:p>
        </p:txBody>
      </p:sp>
      <p:sp>
        <p:nvSpPr>
          <p:cNvPr id="22" name="Text 16"/>
          <p:cNvSpPr/>
          <p:nvPr/>
        </p:nvSpPr>
        <p:spPr>
          <a:xfrm>
            <a:off x="4029075" y="1521619"/>
            <a:ext cx="4686300" cy="2786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Éxito General:</a:t>
            </a:r>
            <a:r>
              <a:rPr lang="en-US" sz="674" dirty="0">
                <a:solidFill>
                  <a:srgbClr val="2C2C2C"/>
                </a:solidFill>
              </a:rPr>
              <a:t> La mayoría de las funcionalidades principales (reserva, compra, gestión de productos, integración con Transbank) funcionan correctamente en la web y la app.</a:t>
            </a:r>
            <a:endParaRPr lang="en-US" sz="634" dirty="0"/>
          </a:p>
        </p:txBody>
      </p:sp>
      <p:sp>
        <p:nvSpPr>
          <p:cNvPr id="23" name="Text 17"/>
          <p:cNvSpPr/>
          <p:nvPr/>
        </p:nvSpPr>
        <p:spPr>
          <a:xfrm>
            <a:off x="4029075" y="1885950"/>
            <a:ext cx="4686300" cy="2786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Funcionalidades Críticas:</a:t>
            </a:r>
            <a:r>
              <a:rPr lang="en-US" sz="674" dirty="0">
                <a:solidFill>
                  <a:srgbClr val="2C2C2C"/>
                </a:solidFill>
              </a:rPr>
              <a:t> Autenticación, carrito de compras y procesamiento de pagos operan sin problemas.</a:t>
            </a:r>
            <a:endParaRPr lang="en-US" sz="634" dirty="0"/>
          </a:p>
        </p:txBody>
      </p:sp>
      <p:sp>
        <p:nvSpPr>
          <p:cNvPr id="24" name="Text 18"/>
          <p:cNvSpPr/>
          <p:nvPr/>
        </p:nvSpPr>
        <p:spPr>
          <a:xfrm>
            <a:off x="4029075" y="2250281"/>
            <a:ext cx="4686300" cy="2786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Pendientes Identificados:</a:t>
            </a:r>
            <a:r>
              <a:rPr lang="en-US" sz="674" dirty="0">
                <a:solidFill>
                  <a:srgbClr val="2C2C2C"/>
                </a:solidFill>
              </a:rPr>
              <a:t> Integración con redes sociales (Google/Facebook) y recuperación de contraseña por correo.</a:t>
            </a:r>
            <a:endParaRPr lang="en-US" sz="634" dirty="0"/>
          </a:p>
        </p:txBody>
      </p:sp>
      <p:sp>
        <p:nvSpPr>
          <p:cNvPr id="25" name="Text 19"/>
          <p:cNvSpPr/>
          <p:nvPr/>
        </p:nvSpPr>
        <p:spPr>
          <a:xfrm>
            <a:off x="4029075" y="1521619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▸</a:t>
            </a:r>
            <a:endParaRPr lang="en-US" sz="634" dirty="0"/>
          </a:p>
        </p:txBody>
      </p:sp>
      <p:sp>
        <p:nvSpPr>
          <p:cNvPr id="26" name="Text 20"/>
          <p:cNvSpPr/>
          <p:nvPr/>
        </p:nvSpPr>
        <p:spPr>
          <a:xfrm>
            <a:off x="4029075" y="1885950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▸</a:t>
            </a:r>
            <a:endParaRPr lang="en-US" sz="634" dirty="0"/>
          </a:p>
        </p:txBody>
      </p:sp>
      <p:sp>
        <p:nvSpPr>
          <p:cNvPr id="27" name="Text 21"/>
          <p:cNvSpPr/>
          <p:nvPr/>
        </p:nvSpPr>
        <p:spPr>
          <a:xfrm>
            <a:off x="4029075" y="2250281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▸</a:t>
            </a:r>
            <a:endParaRPr lang="en-US" sz="634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9075" y="2891433"/>
            <a:ext cx="150019" cy="14287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250531" y="2884289"/>
            <a:ext cx="110998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1A1A1A"/>
                </a:solidFill>
              </a:rPr>
              <a:t>Próximos Pasos</a:t>
            </a:r>
            <a:endParaRPr lang="en-US" sz="784" dirty="0"/>
          </a:p>
        </p:txBody>
      </p:sp>
      <p:sp>
        <p:nvSpPr>
          <p:cNvPr id="30" name="Text 23"/>
          <p:cNvSpPr/>
          <p:nvPr/>
        </p:nvSpPr>
        <p:spPr>
          <a:xfrm>
            <a:off x="4029075" y="3252192"/>
            <a:ext cx="4686300" cy="2786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Resolución de Bugs:</a:t>
            </a:r>
            <a:r>
              <a:rPr lang="en-US" sz="674" dirty="0">
                <a:solidFill>
                  <a:srgbClr val="2C2C2C"/>
                </a:solidFill>
              </a:rPr>
              <a:t> Priorizar la corrección del fallo de reserva en app móvil (Caso 13) y problemas de integración social.</a:t>
            </a:r>
            <a:endParaRPr lang="en-US" sz="634" dirty="0"/>
          </a:p>
        </p:txBody>
      </p:sp>
      <p:sp>
        <p:nvSpPr>
          <p:cNvPr id="31" name="Text 24"/>
          <p:cNvSpPr/>
          <p:nvPr/>
        </p:nvSpPr>
        <p:spPr>
          <a:xfrm>
            <a:off x="4029075" y="3616523"/>
            <a:ext cx="4686300" cy="139303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Implementación de APIs:</a:t>
            </a:r>
            <a:r>
              <a:rPr lang="en-US" sz="674" dirty="0">
                <a:solidFill>
                  <a:srgbClr val="2C2C2C"/>
                </a:solidFill>
              </a:rPr>
              <a:t> Desarrollar la API de envío de correos para recuperación de contraseña.</a:t>
            </a:r>
            <a:endParaRPr lang="en-US" sz="634" dirty="0"/>
          </a:p>
        </p:txBody>
      </p:sp>
      <p:sp>
        <p:nvSpPr>
          <p:cNvPr id="32" name="Text 25"/>
          <p:cNvSpPr/>
          <p:nvPr/>
        </p:nvSpPr>
        <p:spPr>
          <a:xfrm>
            <a:off x="4029075" y="3841552"/>
            <a:ext cx="4686300" cy="278606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2C2C2C"/>
                </a:solidFill>
              </a:rPr>
              <a:t>Validación Final:</a:t>
            </a:r>
            <a:r>
              <a:rPr lang="en-US" sz="674" dirty="0">
                <a:solidFill>
                  <a:srgbClr val="2C2C2C"/>
                </a:solidFill>
              </a:rPr>
              <a:t> Completar Pruebas de Aceptación de Usuario (UAT) con usuarios reales antes del lanzamiento.</a:t>
            </a:r>
            <a:endParaRPr lang="en-US" sz="634" dirty="0"/>
          </a:p>
        </p:txBody>
      </p:sp>
      <p:sp>
        <p:nvSpPr>
          <p:cNvPr id="33" name="Shape 26"/>
          <p:cNvSpPr/>
          <p:nvPr/>
        </p:nvSpPr>
        <p:spPr>
          <a:xfrm>
            <a:off x="4029075" y="4298752"/>
            <a:ext cx="4686300" cy="892969"/>
          </a:xfrm>
          <a:prstGeom prst="rect">
            <a:avLst/>
          </a:prstGeom>
          <a:solidFill>
            <a:srgbClr val="FFFFFF"/>
          </a:solidFill>
          <a:ln w="18288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27"/>
          <p:cNvSpPr/>
          <p:nvPr/>
        </p:nvSpPr>
        <p:spPr>
          <a:xfrm>
            <a:off x="4029075" y="3252192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▸</a:t>
            </a:r>
            <a:endParaRPr lang="en-US" sz="634" dirty="0"/>
          </a:p>
        </p:txBody>
      </p:sp>
      <p:sp>
        <p:nvSpPr>
          <p:cNvPr id="35" name="Text 28"/>
          <p:cNvSpPr/>
          <p:nvPr/>
        </p:nvSpPr>
        <p:spPr>
          <a:xfrm>
            <a:off x="4029075" y="3616523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▸</a:t>
            </a:r>
            <a:endParaRPr lang="en-US" sz="634" dirty="0"/>
          </a:p>
        </p:txBody>
      </p:sp>
      <p:sp>
        <p:nvSpPr>
          <p:cNvPr id="36" name="Text 29"/>
          <p:cNvSpPr/>
          <p:nvPr/>
        </p:nvSpPr>
        <p:spPr>
          <a:xfrm>
            <a:off x="4029075" y="3841552"/>
            <a:ext cx="4643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4AF37"/>
                </a:solidFill>
              </a:rPr>
              <a:t>▸</a:t>
            </a:r>
            <a:endParaRPr lang="en-US" sz="634" dirty="0"/>
          </a:p>
        </p:txBody>
      </p:sp>
      <p:sp>
        <p:nvSpPr>
          <p:cNvPr id="37" name="Text 30"/>
          <p:cNvSpPr/>
          <p:nvPr/>
        </p:nvSpPr>
        <p:spPr>
          <a:xfrm>
            <a:off x="4171950" y="4441627"/>
            <a:ext cx="44005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dirty="0">
                <a:solidFill>
                  <a:srgbClr val="2C2C2C"/>
                </a:solidFill>
              </a:rPr>
              <a:t>Agradecimientos especiales a</a:t>
            </a:r>
            <a:endParaRPr lang="en-US" sz="727" dirty="0"/>
          </a:p>
        </p:txBody>
      </p:sp>
      <p:sp>
        <p:nvSpPr>
          <p:cNvPr id="38" name="Text 31"/>
          <p:cNvSpPr/>
          <p:nvPr/>
        </p:nvSpPr>
        <p:spPr>
          <a:xfrm>
            <a:off x="4171950" y="4634508"/>
            <a:ext cx="44005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C41E3A"/>
                </a:solidFill>
              </a:rPr>
              <a:t>Profesor Ricardo Aravena</a:t>
            </a:r>
            <a:endParaRPr lang="en-US" sz="784" dirty="0"/>
          </a:p>
        </p:txBody>
      </p:sp>
      <p:sp>
        <p:nvSpPr>
          <p:cNvPr id="39" name="Text 32"/>
          <p:cNvSpPr/>
          <p:nvPr/>
        </p:nvSpPr>
        <p:spPr>
          <a:xfrm>
            <a:off x="4171950" y="4847034"/>
            <a:ext cx="44005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1" dirty="0">
                <a:solidFill>
                  <a:srgbClr val="2C2C2C"/>
                </a:solidFill>
              </a:rPr>
              <a:t>por la guía y apoyo durante el desarrollo del proyecto</a:t>
            </a:r>
            <a:endParaRPr lang="en-US" sz="62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1781</Words>
  <Application>Microsoft Office PowerPoint</Application>
  <PresentationFormat>Presentación en pantalla (16:9)</PresentationFormat>
  <Paragraphs>376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gonzalezfelipe376@outlook.es</cp:lastModifiedBy>
  <cp:revision>2</cp:revision>
  <dcterms:created xsi:type="dcterms:W3CDTF">2025-11-18T01:12:39Z</dcterms:created>
  <dcterms:modified xsi:type="dcterms:W3CDTF">2025-11-18T13:41:52Z</dcterms:modified>
</cp:coreProperties>
</file>